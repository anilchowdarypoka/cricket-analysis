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92" r:id="rId8"/>
    <p:sldId id="262" r:id="rId9"/>
    <p:sldId id="263" r:id="rId10"/>
    <p:sldId id="264" r:id="rId11"/>
    <p:sldId id="270" r:id="rId12"/>
    <p:sldId id="271" r:id="rId13"/>
    <p:sldId id="273" r:id="rId14"/>
    <p:sldId id="275" r:id="rId15"/>
    <p:sldId id="277" r:id="rId16"/>
    <p:sldId id="280" r:id="rId17"/>
    <p:sldId id="281" r:id="rId18"/>
    <p:sldId id="282" r:id="rId19"/>
    <p:sldId id="293" r:id="rId20"/>
    <p:sldId id="294" r:id="rId21"/>
    <p:sldId id="295" r:id="rId22"/>
    <p:sldId id="296" r:id="rId23"/>
    <p:sldId id="297" r:id="rId24"/>
    <p:sldId id="288" r:id="rId25"/>
    <p:sldId id="289" r:id="rId26"/>
    <p:sldId id="291"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4"/>
    <p:restoredTop sz="96327"/>
  </p:normalViewPr>
  <p:slideViewPr>
    <p:cSldViewPr snapToGrid="0">
      <p:cViewPr>
        <p:scale>
          <a:sx n="144" d="100"/>
          <a:sy n="144" d="100"/>
        </p:scale>
        <p:origin x="216" y="-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F7AFFB9B-9FB8-469E-96F9-4D32314110B6}" type="datetimeFigureOut">
              <a:rPr lang="en-US" dirty="0"/>
              <a:t>3/28/23</a:t>
            </a:fld>
            <a:endParaRPr lang="en-US" dirty="0"/>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US" dirty="0"/>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6D22F896-40B5-4ADD-8801-0D06FADFA095}" type="slidenum">
              <a:rPr lang="en-US" dirty="0"/>
              <a:pPr/>
              <a:t>‹#›</a:t>
            </a:fld>
            <a:endParaRPr lang="en-US" dirty="0"/>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FBDC27-E420-4878-9EE6-7B9656D6442A}" type="datetimeFigureOut">
              <a:rPr lang="en-US" dirty="0"/>
              <a:t>3/28/23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7F47CF-67C9-420C-80A5-E2069FF0C2DF}" type="datetimeFigureOut">
              <a:rPr lang="en-US" dirty="0"/>
              <a:t>3/28/23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22DC73-F065-42F5-A9F2-D90B2E42A0B3}" type="datetimeFigureOut">
              <a:rPr lang="en-US" dirty="0"/>
              <a:t>3/28/23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BEA702-9B29-41CC-9BCC-3DF8A0D379FE}" type="datetimeFigureOut">
              <a:rPr lang="en-US" dirty="0"/>
              <a:t>3/28/23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649AC-CB8F-4FF1-9A34-5861C74DD0A7}" type="datetimeFigureOut">
              <a:rPr lang="en-US" dirty="0"/>
              <a:t>3/28/23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C5CECA-2D3A-4680-9B49-752200DE467C}" type="datetimeFigureOut">
              <a:rPr lang="en-US" dirty="0"/>
              <a:t>3/28/23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C3BFE2-83B7-4B0A-B9D3-AB28331082B3}" type="datetimeFigureOut">
              <a:rPr lang="en-US" dirty="0"/>
              <a:t>3/28/23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2EF78E3-FDA3-4D28-AAA2-0B81F349A39D}" type="datetimeFigureOut">
              <a:rPr lang="en-US" dirty="0"/>
              <a:t>3/28/23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1D2AC3-6A0B-4169-B1EA-E3AE8B351BDD}" type="datetimeFigureOut">
              <a:rPr lang="en-US" dirty="0"/>
              <a:t>3/28/23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4B9363-8B87-41B7-9F8E-64519CBB8F34}" type="datetimeFigureOut">
              <a:rPr lang="en-US" dirty="0"/>
              <a:t>3/28/23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AEF5746-5284-4951-9F37-7AE924EDBCB7}" type="datetimeFigureOut">
              <a:rPr lang="en-US" dirty="0"/>
              <a:t>3/28/23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398B29-7265-4A65-A2A4-6703C057B7C1}" type="datetimeFigureOut">
              <a:rPr lang="en-US" dirty="0"/>
              <a:t>3/28/23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8FBA082-94DF-4C4B-A041-6624924AB0A8}" type="datetimeFigureOut">
              <a:rPr lang="en-US" dirty="0"/>
              <a:t>3/28/23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27686C4-3AB5-4E0C-86CA-FB108C350AA9}" type="datetimeFigureOut">
              <a:rPr lang="en-US" dirty="0"/>
              <a:t>3/28/23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FF1211-4E0C-4AB3-B04F-585959BDAFE8}" type="datetimeFigureOut">
              <a:rPr lang="en-US" dirty="0"/>
              <a:t>3/28/23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BDECAF-D3BE-4069-9C78-642ECCD01477}" type="datetimeFigureOut">
              <a:rPr lang="en-US" dirty="0"/>
              <a:t>3/28/23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C35BB1C6-BF8F-4481-8AB2-603A1C8A906A}" type="datetimeFigureOut">
              <a:rPr lang="en-US" dirty="0"/>
              <a:t>3/28/23</a:t>
            </a:fld>
            <a:endParaRPr lang="en-US" dirty="0"/>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US" dirty="0"/>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ijajdatanerd/intl-cricketer-stats-odi-t20-tests"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52C80-03A2-B0D8-BB17-A84A103EA02D}"/>
              </a:ext>
            </a:extLst>
          </p:cNvPr>
          <p:cNvSpPr>
            <a:spLocks noGrp="1"/>
          </p:cNvSpPr>
          <p:nvPr>
            <p:ph type="ctrTitle"/>
          </p:nvPr>
        </p:nvSpPr>
        <p:spPr>
          <a:xfrm rot="21420000">
            <a:off x="891201" y="840200"/>
            <a:ext cx="9755187" cy="2766528"/>
          </a:xfrm>
        </p:spPr>
        <p:txBody>
          <a:bodyPr>
            <a:normAutofit fontScale="90000"/>
          </a:bodyPr>
          <a:lstStyle/>
          <a:p>
            <a:r>
              <a:rPr lang="en-US" dirty="0"/>
              <a:t>International Cricket Player Performance Analysis </a:t>
            </a:r>
          </a:p>
        </p:txBody>
      </p:sp>
      <p:sp>
        <p:nvSpPr>
          <p:cNvPr id="3" name="Subtitle 2">
            <a:extLst>
              <a:ext uri="{FF2B5EF4-FFF2-40B4-BE49-F238E27FC236}">
                <a16:creationId xmlns:a16="http://schemas.microsoft.com/office/drawing/2014/main" id="{807509CE-1ED3-07EC-47FA-DD92F16A44C8}"/>
              </a:ext>
            </a:extLst>
          </p:cNvPr>
          <p:cNvSpPr>
            <a:spLocks noGrp="1"/>
          </p:cNvSpPr>
          <p:nvPr>
            <p:ph type="subTitle" idx="1"/>
          </p:nvPr>
        </p:nvSpPr>
        <p:spPr>
          <a:xfrm rot="21420000">
            <a:off x="949194" y="3594662"/>
            <a:ext cx="9755187" cy="550333"/>
          </a:xfrm>
        </p:spPr>
        <p:txBody>
          <a:bodyPr/>
          <a:lstStyle/>
          <a:p>
            <a:r>
              <a:rPr lang="en-US" dirty="0"/>
              <a:t>BY : Yogesh,  </a:t>
            </a:r>
            <a:r>
              <a:rPr lang="en-US" dirty="0" err="1"/>
              <a:t>pranay,NagulMeera</a:t>
            </a:r>
            <a:endParaRPr lang="en-US" dirty="0"/>
          </a:p>
        </p:txBody>
      </p:sp>
    </p:spTree>
    <p:extLst>
      <p:ext uri="{BB962C8B-B14F-4D97-AF65-F5344CB8AC3E}">
        <p14:creationId xmlns:p14="http://schemas.microsoft.com/office/powerpoint/2010/main" val="738664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454915C5-707B-4B29-9E6B-116367F84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70191" cy="6858000"/>
          </a:xfrm>
          <a:custGeom>
            <a:avLst/>
            <a:gdLst>
              <a:gd name="connsiteX0" fmla="*/ 1 w 4061802"/>
              <a:gd name="connsiteY0" fmla="*/ 0 h 6858000"/>
              <a:gd name="connsiteX1" fmla="*/ 4059081 w 4061802"/>
              <a:gd name="connsiteY1" fmla="*/ 0 h 6858000"/>
              <a:gd name="connsiteX2" fmla="*/ 4059081 w 4061802"/>
              <a:gd name="connsiteY2" fmla="*/ 2339825 h 6858000"/>
              <a:gd name="connsiteX3" fmla="*/ 4061802 w 4061802"/>
              <a:gd name="connsiteY3" fmla="*/ 2339683 h 6858000"/>
              <a:gd name="connsiteX4" fmla="*/ 4061802 w 4061802"/>
              <a:gd name="connsiteY4" fmla="*/ 3776054 h 6858000"/>
              <a:gd name="connsiteX5" fmla="*/ 4059081 w 4061802"/>
              <a:gd name="connsiteY5" fmla="*/ 3776199 h 6858000"/>
              <a:gd name="connsiteX6" fmla="*/ 4059081 w 4061802"/>
              <a:gd name="connsiteY6" fmla="*/ 6858000 h 6858000"/>
              <a:gd name="connsiteX7" fmla="*/ 1 w 4061802"/>
              <a:gd name="connsiteY7" fmla="*/ 6858000 h 6858000"/>
              <a:gd name="connsiteX8" fmla="*/ 1 w 4061802"/>
              <a:gd name="connsiteY8" fmla="*/ 3992604 h 6858000"/>
              <a:gd name="connsiteX9" fmla="*/ 0 w 4061802"/>
              <a:gd name="connsiteY9" fmla="*/ 3992604 h 6858000"/>
              <a:gd name="connsiteX10" fmla="*/ 0 w 4061802"/>
              <a:gd name="connsiteY10" fmla="*/ 2552279 h 6858000"/>
              <a:gd name="connsiteX11" fmla="*/ 1 w 4061802"/>
              <a:gd name="connsiteY11" fmla="*/ 255227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61802" h="6858000">
                <a:moveTo>
                  <a:pt x="1" y="0"/>
                </a:moveTo>
                <a:lnTo>
                  <a:pt x="4059081" y="0"/>
                </a:lnTo>
                <a:lnTo>
                  <a:pt x="4059081" y="2339825"/>
                </a:lnTo>
                <a:lnTo>
                  <a:pt x="4061802" y="2339683"/>
                </a:lnTo>
                <a:lnTo>
                  <a:pt x="4061802" y="3776054"/>
                </a:lnTo>
                <a:lnTo>
                  <a:pt x="4059081" y="3776199"/>
                </a:lnTo>
                <a:lnTo>
                  <a:pt x="4059081" y="6858000"/>
                </a:lnTo>
                <a:lnTo>
                  <a:pt x="1" y="6858000"/>
                </a:lnTo>
                <a:lnTo>
                  <a:pt x="1" y="3992604"/>
                </a:lnTo>
                <a:lnTo>
                  <a:pt x="0" y="3992604"/>
                </a:lnTo>
                <a:lnTo>
                  <a:pt x="0" y="2552279"/>
                </a:lnTo>
                <a:lnTo>
                  <a:pt x="1" y="2552279"/>
                </a:lnTo>
                <a:close/>
              </a:path>
            </a:pathLst>
          </a:custGeom>
          <a:gradFill flip="none" rotWithShape="1">
            <a:gsLst>
              <a:gs pos="34000">
                <a:schemeClr val="accent1"/>
              </a:gs>
              <a:gs pos="100000">
                <a:schemeClr val="accent1">
                  <a:lumMod val="50000"/>
                </a:schemeClr>
              </a:gs>
            </a:gsLst>
            <a:lin ang="3600000" scaled="0"/>
            <a:tileRect/>
          </a:gra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7FBCFC1D-9176-DB8A-4B40-E24DD524F327}"/>
              </a:ext>
            </a:extLst>
          </p:cNvPr>
          <p:cNvSpPr>
            <a:spLocks noGrp="1"/>
          </p:cNvSpPr>
          <p:nvPr>
            <p:ph type="title"/>
          </p:nvPr>
        </p:nvSpPr>
        <p:spPr>
          <a:xfrm>
            <a:off x="643467" y="1226122"/>
            <a:ext cx="3054268" cy="4405756"/>
          </a:xfrm>
        </p:spPr>
        <p:txBody>
          <a:bodyPr anchor="ctr">
            <a:normAutofit/>
          </a:bodyPr>
          <a:lstStyle/>
          <a:p>
            <a:r>
              <a:rPr lang="en-US" sz="3600">
                <a:solidFill>
                  <a:srgbClr val="FFFFFF"/>
                </a:solidFill>
              </a:rPr>
              <a:t>Introduction</a:t>
            </a:r>
          </a:p>
        </p:txBody>
      </p:sp>
      <p:sp>
        <p:nvSpPr>
          <p:cNvPr id="10" name="Rectangle 9">
            <a:extLst>
              <a:ext uri="{FF2B5EF4-FFF2-40B4-BE49-F238E27FC236}">
                <a16:creationId xmlns:a16="http://schemas.microsoft.com/office/drawing/2014/main" id="{26B8E032-9914-4C00-B51A-C2DA16271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21733" cy="6858000"/>
          </a:xfrm>
          <a:prstGeom prst="rect">
            <a:avLst/>
          </a:prstGeom>
          <a:solidFill>
            <a:schemeClr val="accent1">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43B4841E-E6B6-48C3-BA02-F73659C6D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1802" y="1"/>
            <a:ext cx="8130198" cy="6857999"/>
          </a:xfrm>
          <a:custGeom>
            <a:avLst/>
            <a:gdLst>
              <a:gd name="connsiteX0" fmla="*/ 0 w 8130198"/>
              <a:gd name="connsiteY0" fmla="*/ 0 h 6857999"/>
              <a:gd name="connsiteX1" fmla="*/ 7241014 w 8130198"/>
              <a:gd name="connsiteY1" fmla="*/ 0 h 6857999"/>
              <a:gd name="connsiteX2" fmla="*/ 8130198 w 8130198"/>
              <a:gd name="connsiteY2" fmla="*/ 0 h 6857999"/>
              <a:gd name="connsiteX3" fmla="*/ 8130198 w 8130198"/>
              <a:gd name="connsiteY3" fmla="*/ 6857999 h 6857999"/>
              <a:gd name="connsiteX4" fmla="*/ 0 w 8130198"/>
              <a:gd name="connsiteY4" fmla="*/ 6857999 h 6857999"/>
              <a:gd name="connsiteX5" fmla="*/ 0 w 8130198"/>
              <a:gd name="connsiteY5" fmla="*/ 63753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0198" h="6857999">
                <a:moveTo>
                  <a:pt x="0" y="0"/>
                </a:moveTo>
                <a:lnTo>
                  <a:pt x="7241014" y="0"/>
                </a:lnTo>
                <a:lnTo>
                  <a:pt x="8130198" y="0"/>
                </a:lnTo>
                <a:lnTo>
                  <a:pt x="8130198" y="6857999"/>
                </a:lnTo>
                <a:lnTo>
                  <a:pt x="0" y="6857999"/>
                </a:lnTo>
                <a:lnTo>
                  <a:pt x="0" y="6375361"/>
                </a:lnTo>
                <a:close/>
              </a:path>
            </a:pathLst>
          </a:custGeom>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a:extLst>
              <a:ext uri="{FF2B5EF4-FFF2-40B4-BE49-F238E27FC236}">
                <a16:creationId xmlns:a16="http://schemas.microsoft.com/office/drawing/2014/main" id="{3FE7F2C2-A9B2-AF62-2AFE-3E36B9D65F5A}"/>
              </a:ext>
            </a:extLst>
          </p:cNvPr>
          <p:cNvSpPr>
            <a:spLocks noGrp="1"/>
          </p:cNvSpPr>
          <p:nvPr>
            <p:ph sz="quarter" idx="13"/>
          </p:nvPr>
        </p:nvSpPr>
        <p:spPr>
          <a:xfrm>
            <a:off x="4554461" y="1226122"/>
            <a:ext cx="6526045" cy="4405756"/>
          </a:xfrm>
        </p:spPr>
        <p:txBody>
          <a:bodyPr anchor="ctr">
            <a:normAutofit/>
          </a:bodyPr>
          <a:lstStyle/>
          <a:p>
            <a:pPr marL="0" indent="0">
              <a:buNone/>
            </a:pPr>
            <a:r>
              <a:rPr lang="en-US" sz="1600" cap="none" dirty="0">
                <a:solidFill>
                  <a:schemeClr val="tx1">
                    <a:lumMod val="95000"/>
                    <a:lumOff val="5000"/>
                  </a:schemeClr>
                </a:solidFill>
                <a:latin typeface="Söhne"/>
              </a:rPr>
              <a:t>T</a:t>
            </a:r>
            <a:r>
              <a:rPr lang="en-US" sz="1600" b="0" i="0" cap="none" dirty="0">
                <a:solidFill>
                  <a:schemeClr val="tx1">
                    <a:lumMod val="95000"/>
                    <a:lumOff val="5000"/>
                  </a:schemeClr>
                </a:solidFill>
                <a:effectLst/>
                <a:latin typeface="Söhne"/>
              </a:rPr>
              <a:t>he goal of this endeavor is to find the best cricketers who can promote a company's goods as brand ambassadors. the project will employ a dataset of performance parameters for many cricketers, including batting average, strike rate, total runs scored, number of boundaries, and span. to rate the cricketers according to their performance, the analysis will use exploratory data analysis, and data cleaning and preparation. the report will provide a thorough discussion of the methodology utilized, the performance indicators chosen, and the top five cricketers' final rankings. the organization will use the findings to improve its marketing approach and brand image.</a:t>
            </a:r>
            <a:endParaRPr lang="en-US" sz="1600" cap="none" dirty="0">
              <a:solidFill>
                <a:schemeClr val="tx1">
                  <a:lumMod val="95000"/>
                  <a:lumOff val="5000"/>
                </a:schemeClr>
              </a:solidFill>
            </a:endParaRPr>
          </a:p>
        </p:txBody>
      </p:sp>
    </p:spTree>
    <p:extLst>
      <p:ext uri="{BB962C8B-B14F-4D97-AF65-F5344CB8AC3E}">
        <p14:creationId xmlns:p14="http://schemas.microsoft.com/office/powerpoint/2010/main" val="936617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879DC43-E40D-46CF-9A74-541F26073E0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7" name="Rectangle 16">
            <a:extLst>
              <a:ext uri="{FF2B5EF4-FFF2-40B4-BE49-F238E27FC236}">
                <a16:creationId xmlns:a16="http://schemas.microsoft.com/office/drawing/2014/main" id="{F58642F3-2EAA-437A-96F6-C288460710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pic>
        <p:nvPicPr>
          <p:cNvPr id="7" name="Graphic 6" descr="Cricket">
            <a:extLst>
              <a:ext uri="{FF2B5EF4-FFF2-40B4-BE49-F238E27FC236}">
                <a16:creationId xmlns:a16="http://schemas.microsoft.com/office/drawing/2014/main" id="{64F36A5B-2C50-4947-40E7-142289BDBC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21754" y="1588852"/>
            <a:ext cx="3218106" cy="3218106"/>
          </a:xfrm>
          <a:prstGeom prst="rect">
            <a:avLst/>
          </a:prstGeom>
          <a:ln>
            <a:noFill/>
          </a:ln>
        </p:spPr>
      </p:pic>
      <p:sp>
        <p:nvSpPr>
          <p:cNvPr id="19" name="Freeform 9">
            <a:extLst>
              <a:ext uri="{FF2B5EF4-FFF2-40B4-BE49-F238E27FC236}">
                <a16:creationId xmlns:a16="http://schemas.microsoft.com/office/drawing/2014/main" id="{F70E27E0-2B68-4645-A576-FBB921B5EC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1" name="Rectangle 20">
            <a:extLst>
              <a:ext uri="{FF2B5EF4-FFF2-40B4-BE49-F238E27FC236}">
                <a16:creationId xmlns:a16="http://schemas.microsoft.com/office/drawing/2014/main" id="{5AC0CA87-7D52-4CDA-9CC2-880646A01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7554139" cy="6380796"/>
          </a:xfrm>
          <a:prstGeom prst="rect">
            <a:avLst/>
          </a:prstGeom>
          <a:gradFill flip="none" rotWithShape="1">
            <a:gsLst>
              <a:gs pos="34000">
                <a:schemeClr val="accent1"/>
              </a:gs>
              <a:gs pos="100000">
                <a:schemeClr val="accent1">
                  <a:lumMod val="60000"/>
                </a:schemeClr>
              </a:gs>
            </a:gsLst>
            <a:lin ang="8100000" scaled="1"/>
            <a:tileRect/>
          </a:gra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450C7258-E222-B007-9851-34E9B78FA1FC}"/>
              </a:ext>
            </a:extLst>
          </p:cNvPr>
          <p:cNvSpPr>
            <a:spLocks noGrp="1"/>
          </p:cNvSpPr>
          <p:nvPr>
            <p:ph type="title"/>
          </p:nvPr>
        </p:nvSpPr>
        <p:spPr>
          <a:xfrm>
            <a:off x="685800" y="228108"/>
            <a:ext cx="6382699" cy="1146825"/>
          </a:xfrm>
        </p:spPr>
        <p:txBody>
          <a:bodyPr>
            <a:normAutofit/>
          </a:bodyPr>
          <a:lstStyle/>
          <a:p>
            <a:r>
              <a:rPr lang="en-US" dirty="0">
                <a:solidFill>
                  <a:schemeClr val="bg1"/>
                </a:solidFill>
              </a:rPr>
              <a:t>Problem definition</a:t>
            </a:r>
          </a:p>
        </p:txBody>
      </p:sp>
      <p:sp>
        <p:nvSpPr>
          <p:cNvPr id="3" name="Content Placeholder 2">
            <a:extLst>
              <a:ext uri="{FF2B5EF4-FFF2-40B4-BE49-F238E27FC236}">
                <a16:creationId xmlns:a16="http://schemas.microsoft.com/office/drawing/2014/main" id="{43456EA7-BBC3-5040-BE76-DC6BE89EC5AF}"/>
              </a:ext>
            </a:extLst>
          </p:cNvPr>
          <p:cNvSpPr>
            <a:spLocks noGrp="1"/>
          </p:cNvSpPr>
          <p:nvPr>
            <p:ph sz="quarter" idx="13"/>
          </p:nvPr>
        </p:nvSpPr>
        <p:spPr>
          <a:xfrm>
            <a:off x="685800" y="1588852"/>
            <a:ext cx="6382697" cy="4104126"/>
          </a:xfrm>
        </p:spPr>
        <p:txBody>
          <a:bodyPr>
            <a:noAutofit/>
          </a:bodyPr>
          <a:lstStyle/>
          <a:p>
            <a:pPr marL="0" indent="0">
              <a:lnSpc>
                <a:spcPct val="110000"/>
              </a:lnSpc>
              <a:spcBef>
                <a:spcPts val="500"/>
              </a:spcBef>
              <a:spcAft>
                <a:spcPts val="500"/>
              </a:spcAft>
              <a:buNone/>
            </a:pPr>
            <a:r>
              <a:rPr lang="en-US" sz="1100" cap="none" dirty="0">
                <a:solidFill>
                  <a:schemeClr val="bg1"/>
                </a:solidFill>
                <a:effectLst/>
                <a:latin typeface="Calibri Light" panose="020F0302020204030204" pitchFamily="34" charset="0"/>
                <a:ea typeface="Times New Roman" panose="02020603050405020304" pitchFamily="18" charset="0"/>
              </a:rPr>
              <a:t>A company is seeking to identify the top-performing cricketers who can serve as brand ambassadors for their products. To achieve this objective, the company has provided a dataset that includes a range of performance metrics for many cricketers, including batting average, strike rate, total runs scored, number of boundaries, and span. The analysis project aims to identify the top 5 cricketers based on their overall performance, as determined by a weighted combination of their batting statistics.</a:t>
            </a:r>
            <a:endParaRPr lang="en-US" sz="1100" cap="none" dirty="0">
              <a:solidFill>
                <a:schemeClr val="bg1"/>
              </a:solidFill>
              <a:effectLst/>
              <a:latin typeface="Times New Roman" panose="02020603050405020304" pitchFamily="18" charset="0"/>
            </a:endParaRPr>
          </a:p>
          <a:p>
            <a:pPr marL="0" indent="0">
              <a:lnSpc>
                <a:spcPct val="110000"/>
              </a:lnSpc>
              <a:spcBef>
                <a:spcPts val="500"/>
              </a:spcBef>
              <a:spcAft>
                <a:spcPts val="500"/>
              </a:spcAft>
              <a:buNone/>
            </a:pPr>
            <a:r>
              <a:rPr lang="en-US" sz="1100" cap="none" dirty="0">
                <a:solidFill>
                  <a:schemeClr val="bg1"/>
                </a:solidFill>
                <a:effectLst/>
                <a:latin typeface="Calibri Light" panose="020F0302020204030204" pitchFamily="34" charset="0"/>
                <a:ea typeface="Times New Roman" panose="02020603050405020304" pitchFamily="18" charset="0"/>
              </a:rPr>
              <a:t>The project will involve a multi-step analysis approach, starting with data cleaning and preprocessing to ensure that the data is consistent, complete, and accurate. Exploratory data analysis will be performed to identify any trends or relationships that can inform the weighting scheme used to rank the cricketers. Next, machine learning algorithms will be used to rank the cricketers based on their performance, considering both batting and bowling statistics.</a:t>
            </a:r>
            <a:endParaRPr lang="en-US" sz="1100" cap="none" dirty="0">
              <a:solidFill>
                <a:schemeClr val="bg1"/>
              </a:solidFill>
              <a:effectLst/>
              <a:latin typeface="Times New Roman" panose="02020603050405020304" pitchFamily="18" charset="0"/>
            </a:endParaRPr>
          </a:p>
          <a:p>
            <a:pPr marL="0" indent="0">
              <a:lnSpc>
                <a:spcPct val="110000"/>
              </a:lnSpc>
              <a:spcBef>
                <a:spcPts val="500"/>
              </a:spcBef>
              <a:spcAft>
                <a:spcPts val="500"/>
              </a:spcAft>
              <a:buNone/>
            </a:pPr>
            <a:r>
              <a:rPr lang="en-US" sz="1100" cap="none" dirty="0">
                <a:solidFill>
                  <a:schemeClr val="bg1"/>
                </a:solidFill>
                <a:effectLst/>
                <a:latin typeface="Calibri Light" panose="020F0302020204030204" pitchFamily="34" charset="0"/>
                <a:ea typeface="Times New Roman" panose="02020603050405020304" pitchFamily="18" charset="0"/>
              </a:rPr>
              <a:t>The limitations of the analysis include the availability and completeness of the data, as well as the potential for bias in the selection of performance metrics and the weighting scheme used. The analysis will focus on cricketers who have played in at least five international matches across all formats. The results of the analysis will be used by the company to identify the cricketers with the highest potential to endorse their products and enhance their brand image.</a:t>
            </a:r>
            <a:endParaRPr lang="en-US" sz="1100" cap="none" dirty="0">
              <a:solidFill>
                <a:schemeClr val="bg1"/>
              </a:solidFill>
              <a:effectLst/>
              <a:latin typeface="Times New Roman" panose="02020603050405020304" pitchFamily="18" charset="0"/>
            </a:endParaRPr>
          </a:p>
          <a:p>
            <a:pPr marL="0" indent="0">
              <a:lnSpc>
                <a:spcPct val="110000"/>
              </a:lnSpc>
              <a:spcBef>
                <a:spcPts val="500"/>
              </a:spcBef>
              <a:spcAft>
                <a:spcPts val="500"/>
              </a:spcAft>
              <a:buNone/>
            </a:pPr>
            <a:r>
              <a:rPr lang="en-US" sz="1100" cap="none" dirty="0">
                <a:solidFill>
                  <a:schemeClr val="bg1"/>
                </a:solidFill>
                <a:effectLst/>
                <a:latin typeface="Calibri Light" panose="020F0302020204030204" pitchFamily="34" charset="0"/>
                <a:ea typeface="Times New Roman" panose="02020603050405020304" pitchFamily="18" charset="0"/>
              </a:rPr>
              <a:t>The project will deliver a comprehensive report detailing the methodology used, the performance metrics selected, the weighting scheme used, and the final ranking of the top five cricketers. The report will also highlight any insights or trends identified during the analysis, as well as any limitations or areas for future improvement. The report will serve as a valuable tool for the company to make informed decisions about their marketing strategy and product endorsement deals.</a:t>
            </a:r>
            <a:endParaRPr lang="en-US" sz="1100" cap="none" dirty="0">
              <a:solidFill>
                <a:schemeClr val="bg1"/>
              </a:solidFill>
              <a:effectLst/>
              <a:latin typeface="Times New Roman" panose="02020603050405020304" pitchFamily="18" charset="0"/>
            </a:endParaRPr>
          </a:p>
          <a:p>
            <a:pPr marL="0" indent="0">
              <a:lnSpc>
                <a:spcPct val="110000"/>
              </a:lnSpc>
              <a:buNone/>
            </a:pPr>
            <a:endParaRPr lang="en-US" sz="1100" cap="none" dirty="0">
              <a:solidFill>
                <a:schemeClr val="bg1"/>
              </a:solidFill>
            </a:endParaRPr>
          </a:p>
        </p:txBody>
      </p:sp>
    </p:spTree>
    <p:extLst>
      <p:ext uri="{BB962C8B-B14F-4D97-AF65-F5344CB8AC3E}">
        <p14:creationId xmlns:p14="http://schemas.microsoft.com/office/powerpoint/2010/main" val="2125670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6809B23-EC40-425A-B89A-F9CE4F0631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custGeom>
            <a:avLst/>
            <a:gdLst>
              <a:gd name="connsiteX0" fmla="*/ 3 w 11647715"/>
              <a:gd name="connsiteY0" fmla="*/ 0 h 2634343"/>
              <a:gd name="connsiteX1" fmla="*/ 11647715 w 11647715"/>
              <a:gd name="connsiteY1" fmla="*/ 0 h 2634343"/>
              <a:gd name="connsiteX2" fmla="*/ 11647715 w 11647715"/>
              <a:gd name="connsiteY2" fmla="*/ 2634343 h 2634343"/>
              <a:gd name="connsiteX3" fmla="*/ 3 w 11647715"/>
              <a:gd name="connsiteY3" fmla="*/ 2634343 h 2634343"/>
              <a:gd name="connsiteX4" fmla="*/ 3 w 11647715"/>
              <a:gd name="connsiteY4" fmla="*/ 1533667 h 2634343"/>
              <a:gd name="connsiteX5" fmla="*/ 0 w 11647715"/>
              <a:gd name="connsiteY5" fmla="*/ 1533667 h 2634343"/>
              <a:gd name="connsiteX6" fmla="*/ 0 w 11647715"/>
              <a:gd name="connsiteY6" fmla="*/ 980400 h 2634343"/>
              <a:gd name="connsiteX7" fmla="*/ 3 w 11647715"/>
              <a:gd name="connsiteY7" fmla="*/ 980400 h 2634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47715" h="2634343">
                <a:moveTo>
                  <a:pt x="3" y="0"/>
                </a:moveTo>
                <a:lnTo>
                  <a:pt x="11647715" y="0"/>
                </a:lnTo>
                <a:lnTo>
                  <a:pt x="11647715" y="2634343"/>
                </a:lnTo>
                <a:lnTo>
                  <a:pt x="3" y="2634343"/>
                </a:lnTo>
                <a:lnTo>
                  <a:pt x="3" y="1533667"/>
                </a:lnTo>
                <a:lnTo>
                  <a:pt x="0" y="1533667"/>
                </a:lnTo>
                <a:lnTo>
                  <a:pt x="0" y="980400"/>
                </a:lnTo>
                <a:lnTo>
                  <a:pt x="3" y="98040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useBgFill="1">
        <p:nvSpPr>
          <p:cNvPr id="10" name="Freeform: Shape 9">
            <a:extLst>
              <a:ext uri="{FF2B5EF4-FFF2-40B4-BE49-F238E27FC236}">
                <a16:creationId xmlns:a16="http://schemas.microsoft.com/office/drawing/2014/main" id="{A601F395-3079-4179-84BA-6654D9F825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643467"/>
            <a:ext cx="10905067" cy="5571066"/>
          </a:xfrm>
          <a:custGeom>
            <a:avLst/>
            <a:gdLst>
              <a:gd name="connsiteX0" fmla="*/ 0 w 8130198"/>
              <a:gd name="connsiteY0" fmla="*/ 0 h 6857999"/>
              <a:gd name="connsiteX1" fmla="*/ 7241014 w 8130198"/>
              <a:gd name="connsiteY1" fmla="*/ 0 h 6857999"/>
              <a:gd name="connsiteX2" fmla="*/ 8130198 w 8130198"/>
              <a:gd name="connsiteY2" fmla="*/ 0 h 6857999"/>
              <a:gd name="connsiteX3" fmla="*/ 8130198 w 8130198"/>
              <a:gd name="connsiteY3" fmla="*/ 6857999 h 6857999"/>
              <a:gd name="connsiteX4" fmla="*/ 0 w 8130198"/>
              <a:gd name="connsiteY4" fmla="*/ 6857999 h 6857999"/>
              <a:gd name="connsiteX5" fmla="*/ 0 w 8130198"/>
              <a:gd name="connsiteY5" fmla="*/ 637536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0198" h="6857999">
                <a:moveTo>
                  <a:pt x="0" y="0"/>
                </a:moveTo>
                <a:lnTo>
                  <a:pt x="7241014" y="0"/>
                </a:lnTo>
                <a:lnTo>
                  <a:pt x="8130198" y="0"/>
                </a:lnTo>
                <a:lnTo>
                  <a:pt x="8130198" y="6857999"/>
                </a:lnTo>
                <a:lnTo>
                  <a:pt x="0" y="6857999"/>
                </a:lnTo>
                <a:lnTo>
                  <a:pt x="0" y="6375361"/>
                </a:lnTo>
                <a:close/>
              </a:path>
            </a:pathLst>
          </a:custGeom>
          <a:ln w="50800" cap="sq">
            <a:solidFill>
              <a:srgbClr val="7F7F7F"/>
            </a:solidFill>
            <a:miter lim="800000"/>
          </a:ln>
          <a:effectLst>
            <a:outerShdw blurRad="101600" dist="152400" dir="4380000" algn="t" rotWithShape="0">
              <a:prstClr val="black">
                <a:alpha val="43000"/>
              </a:prstClr>
            </a:outerShdw>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A2CDBDE3-1D54-2504-A12F-E7F28040D2B5}"/>
              </a:ext>
            </a:extLst>
          </p:cNvPr>
          <p:cNvSpPr>
            <a:spLocks noGrp="1"/>
          </p:cNvSpPr>
          <p:nvPr>
            <p:ph type="title"/>
          </p:nvPr>
        </p:nvSpPr>
        <p:spPr>
          <a:xfrm>
            <a:off x="1286933" y="1061660"/>
            <a:ext cx="9618133" cy="1043108"/>
          </a:xfrm>
        </p:spPr>
        <p:txBody>
          <a:bodyPr>
            <a:normAutofit/>
          </a:bodyPr>
          <a:lstStyle/>
          <a:p>
            <a:pPr algn="ctr"/>
            <a:r>
              <a:rPr lang="en-US" sz="4800" cap="none" dirty="0"/>
              <a:t>Data set</a:t>
            </a:r>
          </a:p>
        </p:txBody>
      </p:sp>
      <p:sp>
        <p:nvSpPr>
          <p:cNvPr id="7" name="Content Placeholder 2">
            <a:extLst>
              <a:ext uri="{FF2B5EF4-FFF2-40B4-BE49-F238E27FC236}">
                <a16:creationId xmlns:a16="http://schemas.microsoft.com/office/drawing/2014/main" id="{FAB498F1-D3E5-C541-B8CB-DBA41092864A}"/>
              </a:ext>
            </a:extLst>
          </p:cNvPr>
          <p:cNvSpPr>
            <a:spLocks noGrp="1"/>
          </p:cNvSpPr>
          <p:nvPr>
            <p:ph sz="quarter" idx="13"/>
          </p:nvPr>
        </p:nvSpPr>
        <p:spPr>
          <a:xfrm>
            <a:off x="1286933" y="2226681"/>
            <a:ext cx="9618133" cy="3586290"/>
          </a:xfrm>
        </p:spPr>
        <p:txBody>
          <a:bodyPr>
            <a:normAutofit/>
          </a:bodyPr>
          <a:lstStyle/>
          <a:p>
            <a:pPr marL="0" marR="0" indent="0">
              <a:lnSpc>
                <a:spcPct val="110000"/>
              </a:lnSpc>
              <a:spcBef>
                <a:spcPts val="500"/>
              </a:spcBef>
              <a:spcAft>
                <a:spcPts val="500"/>
              </a:spcAft>
              <a:buNone/>
            </a:pPr>
            <a:r>
              <a:rPr lang="en-US" sz="1400" cap="none" dirty="0">
                <a:solidFill>
                  <a:schemeClr val="tx1">
                    <a:lumMod val="85000"/>
                    <a:lumOff val="15000"/>
                  </a:schemeClr>
                </a:solidFill>
                <a:effectLst/>
                <a:latin typeface="Calibri Light" panose="020F0302020204030204" pitchFamily="34" charset="0"/>
                <a:ea typeface="Times New Roman" panose="02020603050405020304" pitchFamily="18" charset="0"/>
                <a:cs typeface="Times New Roman" panose="02020603050405020304" pitchFamily="18" charset="0"/>
              </a:rPr>
              <a:t>I am using three datasets related to cricket players, countries, and batting statistics. Here's a brief explanation of each dataset:</a:t>
            </a:r>
            <a:endParaRPr lang="en-US" sz="1400" cap="none" dirty="0">
              <a:solidFill>
                <a:schemeClr val="tx1">
                  <a:lumMod val="85000"/>
                  <a:lumOff val="15000"/>
                </a:schemeClr>
              </a:solidFill>
              <a:effectLst/>
              <a:latin typeface="Calibri" panose="020F0502020204030204" pitchFamily="34" charset="0"/>
              <a:cs typeface="Times New Roman" panose="02020603050405020304" pitchFamily="18" charset="0"/>
            </a:endParaRPr>
          </a:p>
          <a:p>
            <a:pPr marR="0" lvl="0">
              <a:lnSpc>
                <a:spcPct val="110000"/>
              </a:lnSpc>
              <a:spcBef>
                <a:spcPts val="500"/>
              </a:spcBef>
              <a:spcAft>
                <a:spcPts val="500"/>
              </a:spcAft>
            </a:pPr>
            <a:r>
              <a:rPr lang="en-US" sz="1400" cap="none" dirty="0">
                <a:solidFill>
                  <a:schemeClr val="tx1">
                    <a:lumMod val="85000"/>
                    <a:lumOff val="15000"/>
                  </a:schemeClr>
                </a:solidFill>
                <a:effectLst/>
                <a:latin typeface="Calibri Light" panose="020F0302020204030204" pitchFamily="34" charset="0"/>
                <a:ea typeface="Times New Roman" panose="02020603050405020304" pitchFamily="18" charset="0"/>
                <a:cs typeface="Times New Roman" panose="02020603050405020304" pitchFamily="18" charset="0"/>
              </a:rPr>
              <a:t>The player dataset contains information about individual cricket players, including their name, gender, batting and bowling styles, playing role, and the country they represent.</a:t>
            </a:r>
            <a:endParaRPr lang="en-US" sz="1400" cap="none" dirty="0">
              <a:solidFill>
                <a:schemeClr val="tx1">
                  <a:lumMod val="85000"/>
                  <a:lumOff val="15000"/>
                </a:schemeClr>
              </a:solidFill>
              <a:effectLst/>
              <a:latin typeface="Calibri" panose="020F0502020204030204" pitchFamily="34" charset="0"/>
              <a:cs typeface="Times New Roman" panose="02020603050405020304" pitchFamily="18" charset="0"/>
            </a:endParaRPr>
          </a:p>
          <a:p>
            <a:pPr marR="0" lvl="0">
              <a:lnSpc>
                <a:spcPct val="110000"/>
              </a:lnSpc>
              <a:spcBef>
                <a:spcPts val="500"/>
              </a:spcBef>
              <a:spcAft>
                <a:spcPts val="500"/>
              </a:spcAft>
            </a:pPr>
            <a:r>
              <a:rPr lang="en-US" sz="1400" cap="none" dirty="0">
                <a:solidFill>
                  <a:schemeClr val="tx1">
                    <a:lumMod val="85000"/>
                    <a:lumOff val="15000"/>
                  </a:schemeClr>
                </a:solidFill>
                <a:effectLst/>
                <a:latin typeface="Calibri Light" panose="020F0302020204030204" pitchFamily="34" charset="0"/>
                <a:ea typeface="Times New Roman" panose="02020603050405020304" pitchFamily="18" charset="0"/>
                <a:cs typeface="Times New Roman" panose="02020603050405020304" pitchFamily="18" charset="0"/>
              </a:rPr>
              <a:t>The country dataset contains information about the countries represented in international cricket, including their unique identifier and name.</a:t>
            </a:r>
            <a:endParaRPr lang="en-US" sz="1400" cap="none" dirty="0">
              <a:solidFill>
                <a:schemeClr val="tx1">
                  <a:lumMod val="85000"/>
                  <a:lumOff val="15000"/>
                </a:schemeClr>
              </a:solidFill>
              <a:effectLst/>
              <a:latin typeface="Calibri" panose="020F0502020204030204" pitchFamily="34" charset="0"/>
              <a:cs typeface="Times New Roman" panose="02020603050405020304" pitchFamily="18" charset="0"/>
            </a:endParaRPr>
          </a:p>
          <a:p>
            <a:pPr marR="0" lvl="0">
              <a:lnSpc>
                <a:spcPct val="110000"/>
              </a:lnSpc>
              <a:spcBef>
                <a:spcPts val="500"/>
              </a:spcBef>
              <a:spcAft>
                <a:spcPts val="500"/>
              </a:spcAft>
            </a:pPr>
            <a:r>
              <a:rPr lang="en-US" sz="1400" cap="none" dirty="0">
                <a:solidFill>
                  <a:schemeClr val="tx1">
                    <a:lumMod val="85000"/>
                    <a:lumOff val="15000"/>
                  </a:schemeClr>
                </a:solidFill>
                <a:effectLst/>
                <a:latin typeface="Calibri Light" panose="020F0302020204030204" pitchFamily="34" charset="0"/>
                <a:ea typeface="Times New Roman" panose="02020603050405020304" pitchFamily="18" charset="0"/>
                <a:cs typeface="Times New Roman" panose="02020603050405020304" pitchFamily="18" charset="0"/>
              </a:rPr>
              <a:t>The batting statistics dataset contains information about the performance of individual cricket players with respect to their batting, including the number of matches and innings played, total runs scored, highest score, batting average, strike rate, number of centuries, half-centuries, and ducks (i.e., Dismissed without scoring any runs), as well as the number of fours and sixes scored.</a:t>
            </a:r>
            <a:endParaRPr lang="en-US" sz="1400" cap="none" dirty="0">
              <a:solidFill>
                <a:schemeClr val="tx1">
                  <a:lumMod val="85000"/>
                  <a:lumOff val="15000"/>
                </a:schemeClr>
              </a:solidFill>
              <a:effectLst/>
              <a:latin typeface="Calibri" panose="020F0502020204030204" pitchFamily="34" charset="0"/>
              <a:cs typeface="Times New Roman" panose="02020603050405020304" pitchFamily="18" charset="0"/>
            </a:endParaRPr>
          </a:p>
          <a:p>
            <a:pPr marL="0" marR="0" indent="0">
              <a:lnSpc>
                <a:spcPct val="110000"/>
              </a:lnSpc>
              <a:spcBef>
                <a:spcPts val="500"/>
              </a:spcBef>
              <a:spcAft>
                <a:spcPts val="500"/>
              </a:spcAft>
              <a:buNone/>
            </a:pPr>
            <a:r>
              <a:rPr lang="en-US" sz="1400" cap="none" dirty="0">
                <a:solidFill>
                  <a:schemeClr val="tx1">
                    <a:lumMod val="85000"/>
                    <a:lumOff val="15000"/>
                  </a:schemeClr>
                </a:solidFill>
                <a:effectLst/>
                <a:latin typeface="Calibri Light" panose="020F0302020204030204" pitchFamily="34" charset="0"/>
                <a:ea typeface="Times New Roman" panose="02020603050405020304" pitchFamily="18" charset="0"/>
                <a:cs typeface="Times New Roman" panose="02020603050405020304" pitchFamily="18" charset="0"/>
              </a:rPr>
              <a:t>Together, these datasets can be used to analyze the performance of cricket players across different countries and identify the top performers in terms of their batting statistics.</a:t>
            </a:r>
            <a:endParaRPr lang="en-US" sz="1400" cap="none" dirty="0">
              <a:solidFill>
                <a:schemeClr val="tx1">
                  <a:lumMod val="85000"/>
                  <a:lumOff val="15000"/>
                </a:schemeClr>
              </a:solidFill>
              <a:effectLst/>
              <a:latin typeface="Calibri" panose="020F0502020204030204" pitchFamily="34" charset="0"/>
              <a:cs typeface="Times New Roman" panose="02020603050405020304" pitchFamily="18" charset="0"/>
            </a:endParaRPr>
          </a:p>
          <a:p>
            <a:pPr marL="0" indent="0">
              <a:lnSpc>
                <a:spcPct val="110000"/>
              </a:lnSpc>
              <a:spcBef>
                <a:spcPts val="500"/>
              </a:spcBef>
              <a:spcAft>
                <a:spcPts val="500"/>
              </a:spcAft>
              <a:buNone/>
            </a:pPr>
            <a:r>
              <a:rPr lang="en-US" sz="1400" b="1" cap="none" dirty="0">
                <a:solidFill>
                  <a:schemeClr val="tx1">
                    <a:lumMod val="85000"/>
                    <a:lumOff val="15000"/>
                  </a:schemeClr>
                </a:solidFill>
                <a:effectLst/>
                <a:latin typeface="Calibri Light" panose="020F0302020204030204" pitchFamily="34" charset="0"/>
                <a:ea typeface="Times New Roman" panose="02020603050405020304" pitchFamily="18" charset="0"/>
              </a:rPr>
              <a:t>Reference:  </a:t>
            </a:r>
            <a:r>
              <a:rPr lang="en-US" sz="1400" b="1" u="sng" cap="none" dirty="0">
                <a:solidFill>
                  <a:schemeClr val="tx1">
                    <a:lumMod val="85000"/>
                    <a:lumOff val="15000"/>
                  </a:schemeClr>
                </a:solidFill>
                <a:effectLst/>
                <a:latin typeface="Calibri Light" panose="020F0302020204030204" pitchFamily="34" charset="0"/>
                <a:ea typeface="Times New Roman" panose="02020603050405020304" pitchFamily="18" charset="0"/>
                <a:hlinkClick r:id="rId3"/>
              </a:rPr>
              <a:t>https://www.Kaggle.Com/datasets/ijajdatanerd/intl-cricketer-stats-odi-t20-tests</a:t>
            </a:r>
            <a:endParaRPr lang="en-US" sz="1400" cap="none" dirty="0">
              <a:solidFill>
                <a:schemeClr val="tx1">
                  <a:lumMod val="85000"/>
                  <a:lumOff val="15000"/>
                </a:schemeClr>
              </a:solidFill>
              <a:effectLst/>
              <a:latin typeface="Times New Roman" panose="02020603050405020304" pitchFamily="18" charset="0"/>
            </a:endParaRPr>
          </a:p>
        </p:txBody>
      </p:sp>
    </p:spTree>
    <p:extLst>
      <p:ext uri="{BB962C8B-B14F-4D97-AF65-F5344CB8AC3E}">
        <p14:creationId xmlns:p14="http://schemas.microsoft.com/office/powerpoint/2010/main" val="582946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817F6-1EC9-776E-C1FA-05896269BC67}"/>
              </a:ext>
            </a:extLst>
          </p:cNvPr>
          <p:cNvSpPr>
            <a:spLocks noGrp="1"/>
          </p:cNvSpPr>
          <p:nvPr>
            <p:ph type="title"/>
          </p:nvPr>
        </p:nvSpPr>
        <p:spPr>
          <a:xfrm>
            <a:off x="685801" y="636104"/>
            <a:ext cx="10396882" cy="1151965"/>
          </a:xfrm>
        </p:spPr>
        <p:txBody>
          <a:bodyPr>
            <a:noAutofit/>
          </a:bodyPr>
          <a:lstStyle/>
          <a:p>
            <a:r>
              <a:rPr lang="en-US" sz="4000" cap="none" dirty="0"/>
              <a:t>Sample data ( Country &amp; Players ) - Structured</a:t>
            </a:r>
          </a:p>
        </p:txBody>
      </p:sp>
      <p:pic>
        <p:nvPicPr>
          <p:cNvPr id="5" name="Content Placeholder 4" descr="Graphical user interface, table, Excel&#10;&#10;Description automatically generated">
            <a:extLst>
              <a:ext uri="{FF2B5EF4-FFF2-40B4-BE49-F238E27FC236}">
                <a16:creationId xmlns:a16="http://schemas.microsoft.com/office/drawing/2014/main" id="{0A3A6CE4-DA3D-750F-1834-CC398A17B993}"/>
              </a:ext>
            </a:extLst>
          </p:cNvPr>
          <p:cNvPicPr>
            <a:picLocks noGrp="1" noChangeAspect="1"/>
          </p:cNvPicPr>
          <p:nvPr>
            <p:ph sz="quarter" idx="13"/>
          </p:nvPr>
        </p:nvPicPr>
        <p:blipFill>
          <a:blip r:embed="rId2"/>
          <a:stretch>
            <a:fillRect/>
          </a:stretch>
        </p:blipFill>
        <p:spPr>
          <a:xfrm>
            <a:off x="685801" y="2125534"/>
            <a:ext cx="2749190" cy="3311525"/>
          </a:xfrm>
        </p:spPr>
      </p:pic>
      <p:pic>
        <p:nvPicPr>
          <p:cNvPr id="6" name="Content Placeholder 4">
            <a:extLst>
              <a:ext uri="{FF2B5EF4-FFF2-40B4-BE49-F238E27FC236}">
                <a16:creationId xmlns:a16="http://schemas.microsoft.com/office/drawing/2014/main" id="{62E0A73A-0193-2091-9063-94FEDFD2C97C}"/>
              </a:ext>
            </a:extLst>
          </p:cNvPr>
          <p:cNvPicPr>
            <a:picLocks noChangeAspect="1"/>
          </p:cNvPicPr>
          <p:nvPr/>
        </p:nvPicPr>
        <p:blipFill>
          <a:blip r:embed="rId3"/>
          <a:srcRect/>
          <a:stretch/>
        </p:blipFill>
        <p:spPr>
          <a:xfrm>
            <a:off x="3699326" y="2125534"/>
            <a:ext cx="7134325" cy="3311525"/>
          </a:xfrm>
          <a:prstGeom prst="rect">
            <a:avLst/>
          </a:prstGeom>
        </p:spPr>
      </p:pic>
    </p:spTree>
    <p:extLst>
      <p:ext uri="{BB962C8B-B14F-4D97-AF65-F5344CB8AC3E}">
        <p14:creationId xmlns:p14="http://schemas.microsoft.com/office/powerpoint/2010/main" val="1872768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817F6-1EC9-776E-C1FA-05896269BC67}"/>
              </a:ext>
            </a:extLst>
          </p:cNvPr>
          <p:cNvSpPr>
            <a:spLocks noGrp="1"/>
          </p:cNvSpPr>
          <p:nvPr>
            <p:ph type="title"/>
          </p:nvPr>
        </p:nvSpPr>
        <p:spPr>
          <a:xfrm>
            <a:off x="327991" y="238539"/>
            <a:ext cx="12205252" cy="1151965"/>
          </a:xfrm>
        </p:spPr>
        <p:txBody>
          <a:bodyPr>
            <a:noAutofit/>
          </a:bodyPr>
          <a:lstStyle/>
          <a:p>
            <a:r>
              <a:rPr lang="en-US" sz="4400" cap="none" dirty="0"/>
              <a:t>Sample data ( Player’s batting stats )- Structured</a:t>
            </a:r>
          </a:p>
        </p:txBody>
      </p:sp>
      <p:pic>
        <p:nvPicPr>
          <p:cNvPr id="8" name="Content Placeholder 7" descr="Table&#10;&#10;Description automatically generated">
            <a:extLst>
              <a:ext uri="{FF2B5EF4-FFF2-40B4-BE49-F238E27FC236}">
                <a16:creationId xmlns:a16="http://schemas.microsoft.com/office/drawing/2014/main" id="{328ABF16-99DA-99B1-589A-E7897FBEBF2E}"/>
              </a:ext>
            </a:extLst>
          </p:cNvPr>
          <p:cNvPicPr>
            <a:picLocks noGrp="1" noChangeAspect="1"/>
          </p:cNvPicPr>
          <p:nvPr>
            <p:ph sz="quarter" idx="13"/>
          </p:nvPr>
        </p:nvPicPr>
        <p:blipFill>
          <a:blip r:embed="rId2"/>
          <a:stretch>
            <a:fillRect/>
          </a:stretch>
        </p:blipFill>
        <p:spPr>
          <a:xfrm>
            <a:off x="685801" y="1837766"/>
            <a:ext cx="10396881" cy="3537510"/>
          </a:xfrm>
        </p:spPr>
      </p:pic>
    </p:spTree>
    <p:extLst>
      <p:ext uri="{BB962C8B-B14F-4D97-AF65-F5344CB8AC3E}">
        <p14:creationId xmlns:p14="http://schemas.microsoft.com/office/powerpoint/2010/main" val="851755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028" name="Picture 1030">
            <a:extLst>
              <a:ext uri="{FF2B5EF4-FFF2-40B4-BE49-F238E27FC236}">
                <a16:creationId xmlns:a16="http://schemas.microsoft.com/office/drawing/2014/main" id="{1A71A71C-209A-4AEB-ACE5-99478391B92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029" name="Rectangle 1032">
            <a:extLst>
              <a:ext uri="{FF2B5EF4-FFF2-40B4-BE49-F238E27FC236}">
                <a16:creationId xmlns:a16="http://schemas.microsoft.com/office/drawing/2014/main" id="{6DE4BFA7-B82F-438B-B2B2-49906328DF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pic>
        <p:nvPicPr>
          <p:cNvPr id="1026" name="Picture 2">
            <a:extLst>
              <a:ext uri="{FF2B5EF4-FFF2-40B4-BE49-F238E27FC236}">
                <a16:creationId xmlns:a16="http://schemas.microsoft.com/office/drawing/2014/main" id="{C9318FEE-42BB-C409-5D07-D41B2F9DD50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621" r="18443" b="3"/>
          <a:stretch/>
        </p:blipFill>
        <p:spPr bwMode="auto">
          <a:xfrm>
            <a:off x="7793391" y="260981"/>
            <a:ext cx="3680817" cy="590341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30" name="Freeform 9">
            <a:extLst>
              <a:ext uri="{FF2B5EF4-FFF2-40B4-BE49-F238E27FC236}">
                <a16:creationId xmlns:a16="http://schemas.microsoft.com/office/drawing/2014/main" id="{D508A3B8-B1AA-4A53-8613-20B62ECDE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032" name="Rectangle 1036">
            <a:extLst>
              <a:ext uri="{FF2B5EF4-FFF2-40B4-BE49-F238E27FC236}">
                <a16:creationId xmlns:a16="http://schemas.microsoft.com/office/drawing/2014/main" id="{5255E8F1-8D1A-4978-A5E9-DA60C55D2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7554139" cy="6380796"/>
          </a:xfrm>
          <a:prstGeom prst="rect">
            <a:avLst/>
          </a:prstGeom>
          <a:gradFill flip="none" rotWithShape="1">
            <a:gsLst>
              <a:gs pos="34000">
                <a:schemeClr val="accent1"/>
              </a:gs>
              <a:gs pos="100000">
                <a:schemeClr val="accent1">
                  <a:lumMod val="60000"/>
                </a:schemeClr>
              </a:gs>
            </a:gsLst>
            <a:lin ang="8100000" scaled="1"/>
            <a:tileRect/>
          </a:gradFill>
          <a:ln>
            <a:noFill/>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FD2817F6-1EC9-776E-C1FA-05896269BC67}"/>
              </a:ext>
            </a:extLst>
          </p:cNvPr>
          <p:cNvSpPr>
            <a:spLocks noGrp="1"/>
          </p:cNvSpPr>
          <p:nvPr>
            <p:ph type="title"/>
          </p:nvPr>
        </p:nvSpPr>
        <p:spPr>
          <a:xfrm>
            <a:off x="717792" y="201677"/>
            <a:ext cx="6382699" cy="1146825"/>
          </a:xfrm>
        </p:spPr>
        <p:txBody>
          <a:bodyPr>
            <a:normAutofit/>
          </a:bodyPr>
          <a:lstStyle/>
          <a:p>
            <a:r>
              <a:rPr lang="en-US" sz="3800" cap="none" dirty="0">
                <a:solidFill>
                  <a:schemeClr val="bg1"/>
                </a:solidFill>
              </a:rPr>
              <a:t>Sample data Text file &amp; Image</a:t>
            </a:r>
          </a:p>
        </p:txBody>
      </p:sp>
      <p:sp>
        <p:nvSpPr>
          <p:cNvPr id="4" name="Content Placeholder 3">
            <a:extLst>
              <a:ext uri="{FF2B5EF4-FFF2-40B4-BE49-F238E27FC236}">
                <a16:creationId xmlns:a16="http://schemas.microsoft.com/office/drawing/2014/main" id="{D254D665-5E00-2850-ED2D-A030DB7CE79C}"/>
              </a:ext>
            </a:extLst>
          </p:cNvPr>
          <p:cNvSpPr>
            <a:spLocks noGrp="1"/>
          </p:cNvSpPr>
          <p:nvPr>
            <p:ph sz="quarter" idx="13"/>
          </p:nvPr>
        </p:nvSpPr>
        <p:spPr>
          <a:xfrm>
            <a:off x="685800" y="2063395"/>
            <a:ext cx="6382697" cy="3446103"/>
          </a:xfrm>
        </p:spPr>
        <p:txBody>
          <a:bodyPr>
            <a:normAutofit/>
          </a:bodyPr>
          <a:lstStyle/>
          <a:p>
            <a:pPr marL="0" indent="0">
              <a:lnSpc>
                <a:spcPct val="110000"/>
              </a:lnSpc>
              <a:buNone/>
            </a:pPr>
            <a:r>
              <a:rPr lang="en-US" sz="1500" dirty="0">
                <a:solidFill>
                  <a:schemeClr val="bg1"/>
                </a:solidFill>
              </a:rPr>
              <a:t>Ishan </a:t>
            </a:r>
            <a:r>
              <a:rPr lang="en-US" sz="1500" dirty="0" err="1">
                <a:solidFill>
                  <a:schemeClr val="bg1"/>
                </a:solidFill>
              </a:rPr>
              <a:t>Kishan</a:t>
            </a:r>
            <a:r>
              <a:rPr lang="en-US" sz="1500" dirty="0">
                <a:solidFill>
                  <a:schemeClr val="bg1"/>
                </a:solidFill>
              </a:rPr>
              <a:t> IND 498.0 t20</a:t>
            </a:r>
          </a:p>
          <a:p>
            <a:pPr marL="0" indent="0">
              <a:lnSpc>
                <a:spcPct val="110000"/>
              </a:lnSpc>
              <a:buNone/>
            </a:pPr>
            <a:r>
              <a:rPr lang="en-US" sz="1500" dirty="0" err="1">
                <a:solidFill>
                  <a:schemeClr val="bg1"/>
                </a:solidFill>
              </a:rPr>
              <a:t>Hazratullah</a:t>
            </a:r>
            <a:r>
              <a:rPr lang="en-US" sz="1500" dirty="0">
                <a:solidFill>
                  <a:schemeClr val="bg1"/>
                </a:solidFill>
              </a:rPr>
              <a:t> AFG 537.0 t20</a:t>
            </a:r>
          </a:p>
          <a:p>
            <a:pPr marL="0" indent="0">
              <a:lnSpc>
                <a:spcPct val="110000"/>
              </a:lnSpc>
              <a:buNone/>
            </a:pPr>
            <a:r>
              <a:rPr lang="en-US" sz="1500" dirty="0" err="1">
                <a:solidFill>
                  <a:schemeClr val="bg1"/>
                </a:solidFill>
              </a:rPr>
              <a:t>Afif</a:t>
            </a:r>
            <a:r>
              <a:rPr lang="en-US" sz="1500" dirty="0">
                <a:solidFill>
                  <a:schemeClr val="bg1"/>
                </a:solidFill>
              </a:rPr>
              <a:t> Hossain BAN 486.0 t20</a:t>
            </a:r>
          </a:p>
          <a:p>
            <a:pPr marL="0" indent="0">
              <a:lnSpc>
                <a:spcPct val="110000"/>
              </a:lnSpc>
              <a:buNone/>
            </a:pPr>
            <a:r>
              <a:rPr lang="en-US" sz="1500" dirty="0">
                <a:solidFill>
                  <a:schemeClr val="bg1"/>
                </a:solidFill>
              </a:rPr>
              <a:t>Jos </a:t>
            </a:r>
            <a:r>
              <a:rPr lang="en-US" sz="1500" dirty="0" err="1">
                <a:solidFill>
                  <a:schemeClr val="bg1"/>
                </a:solidFill>
              </a:rPr>
              <a:t>Buttler</a:t>
            </a:r>
            <a:r>
              <a:rPr lang="en-US" sz="1500" dirty="0">
                <a:solidFill>
                  <a:schemeClr val="bg1"/>
                </a:solidFill>
              </a:rPr>
              <a:t> ENG 670.0 t20</a:t>
            </a:r>
          </a:p>
          <a:p>
            <a:pPr marL="0" indent="0">
              <a:lnSpc>
                <a:spcPct val="110000"/>
              </a:lnSpc>
              <a:buNone/>
            </a:pPr>
            <a:r>
              <a:rPr lang="en-US" sz="1500" dirty="0" err="1">
                <a:solidFill>
                  <a:schemeClr val="bg1"/>
                </a:solidFill>
              </a:rPr>
              <a:t>Moeen</a:t>
            </a:r>
            <a:r>
              <a:rPr lang="en-US" sz="1500" dirty="0">
                <a:solidFill>
                  <a:schemeClr val="bg1"/>
                </a:solidFill>
              </a:rPr>
              <a:t> Ali ENG 498.0 t20</a:t>
            </a:r>
          </a:p>
          <a:p>
            <a:pPr marL="0" indent="0">
              <a:lnSpc>
                <a:spcPct val="110000"/>
              </a:lnSpc>
              <a:buNone/>
            </a:pPr>
            <a:r>
              <a:rPr lang="en-US" sz="1500" dirty="0">
                <a:solidFill>
                  <a:schemeClr val="bg1"/>
                </a:solidFill>
              </a:rPr>
              <a:t>Matthew Wade AUS 448.0 t20</a:t>
            </a:r>
          </a:p>
          <a:p>
            <a:pPr marL="0" indent="0">
              <a:lnSpc>
                <a:spcPct val="110000"/>
              </a:lnSpc>
              <a:buNone/>
            </a:pPr>
            <a:r>
              <a:rPr lang="en-US" sz="1500" dirty="0">
                <a:solidFill>
                  <a:schemeClr val="bg1"/>
                </a:solidFill>
              </a:rPr>
              <a:t>Virat Kohli IND 612.0 t20</a:t>
            </a:r>
          </a:p>
          <a:p>
            <a:pPr marL="0" indent="0">
              <a:lnSpc>
                <a:spcPct val="110000"/>
              </a:lnSpc>
              <a:buNone/>
            </a:pPr>
            <a:r>
              <a:rPr lang="en-US" sz="1500" dirty="0">
                <a:solidFill>
                  <a:schemeClr val="bg1"/>
                </a:solidFill>
              </a:rPr>
              <a:t>Babar Azam PAK 778.0 t20</a:t>
            </a:r>
          </a:p>
          <a:p>
            <a:pPr marL="0" indent="0">
              <a:lnSpc>
                <a:spcPct val="110000"/>
              </a:lnSpc>
              <a:buNone/>
            </a:pPr>
            <a:r>
              <a:rPr lang="en-US" sz="1500" dirty="0">
                <a:solidFill>
                  <a:schemeClr val="bg1"/>
                </a:solidFill>
              </a:rPr>
              <a:t>Kane Williamson NZ 513.0 t20</a:t>
            </a:r>
          </a:p>
        </p:txBody>
      </p:sp>
    </p:spTree>
    <p:extLst>
      <p:ext uri="{BB962C8B-B14F-4D97-AF65-F5344CB8AC3E}">
        <p14:creationId xmlns:p14="http://schemas.microsoft.com/office/powerpoint/2010/main" val="2980584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3BE5-CC4B-EF5F-6C34-19D9C3124B4D}"/>
              </a:ext>
            </a:extLst>
          </p:cNvPr>
          <p:cNvSpPr>
            <a:spLocks noGrp="1"/>
          </p:cNvSpPr>
          <p:nvPr>
            <p:ph type="title"/>
          </p:nvPr>
        </p:nvSpPr>
        <p:spPr>
          <a:xfrm>
            <a:off x="685801" y="159026"/>
            <a:ext cx="10396882" cy="1151965"/>
          </a:xfrm>
        </p:spPr>
        <p:txBody>
          <a:bodyPr/>
          <a:lstStyle/>
          <a:p>
            <a:r>
              <a:rPr lang="en-US" cap="none" dirty="0"/>
              <a:t>Retrieving data from data base</a:t>
            </a:r>
          </a:p>
        </p:txBody>
      </p:sp>
      <p:pic>
        <p:nvPicPr>
          <p:cNvPr id="5" name="Content Placeholder 4" descr="Graphical user interface, text&#10;&#10;Description automatically generated">
            <a:extLst>
              <a:ext uri="{FF2B5EF4-FFF2-40B4-BE49-F238E27FC236}">
                <a16:creationId xmlns:a16="http://schemas.microsoft.com/office/drawing/2014/main" id="{DD0225F8-6A39-70C4-5BB8-6E40845037B9}"/>
              </a:ext>
            </a:extLst>
          </p:cNvPr>
          <p:cNvPicPr>
            <a:picLocks noGrp="1" noChangeAspect="1"/>
          </p:cNvPicPr>
          <p:nvPr>
            <p:ph sz="quarter" idx="13"/>
          </p:nvPr>
        </p:nvPicPr>
        <p:blipFill>
          <a:blip r:embed="rId2"/>
          <a:stretch>
            <a:fillRect/>
          </a:stretch>
        </p:blipFill>
        <p:spPr>
          <a:xfrm>
            <a:off x="685801" y="1232452"/>
            <a:ext cx="9384956" cy="4142824"/>
          </a:xfrm>
        </p:spPr>
      </p:pic>
    </p:spTree>
    <p:extLst>
      <p:ext uri="{BB962C8B-B14F-4D97-AF65-F5344CB8AC3E}">
        <p14:creationId xmlns:p14="http://schemas.microsoft.com/office/powerpoint/2010/main" val="585852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3BE5-CC4B-EF5F-6C34-19D9C3124B4D}"/>
              </a:ext>
            </a:extLst>
          </p:cNvPr>
          <p:cNvSpPr>
            <a:spLocks noGrp="1"/>
          </p:cNvSpPr>
          <p:nvPr>
            <p:ph type="title"/>
          </p:nvPr>
        </p:nvSpPr>
        <p:spPr>
          <a:xfrm>
            <a:off x="685801" y="203886"/>
            <a:ext cx="10396882" cy="1151965"/>
          </a:xfrm>
        </p:spPr>
        <p:txBody>
          <a:bodyPr>
            <a:normAutofit/>
          </a:bodyPr>
          <a:lstStyle/>
          <a:p>
            <a:r>
              <a:rPr lang="en-US" cap="none" dirty="0"/>
              <a:t>Merging all the data frames</a:t>
            </a:r>
          </a:p>
        </p:txBody>
      </p:sp>
      <p:pic>
        <p:nvPicPr>
          <p:cNvPr id="5" name="Content Placeholder 4">
            <a:extLst>
              <a:ext uri="{FF2B5EF4-FFF2-40B4-BE49-F238E27FC236}">
                <a16:creationId xmlns:a16="http://schemas.microsoft.com/office/drawing/2014/main" id="{DD0225F8-6A39-70C4-5BB8-6E40845037B9}"/>
              </a:ext>
            </a:extLst>
          </p:cNvPr>
          <p:cNvPicPr>
            <a:picLocks noGrp="1" noChangeAspect="1"/>
          </p:cNvPicPr>
          <p:nvPr>
            <p:ph sz="quarter" idx="13"/>
          </p:nvPr>
        </p:nvPicPr>
        <p:blipFill>
          <a:blip r:embed="rId2"/>
          <a:srcRect/>
          <a:stretch/>
        </p:blipFill>
        <p:spPr>
          <a:xfrm>
            <a:off x="685801" y="1355851"/>
            <a:ext cx="9384956" cy="4019425"/>
          </a:xfrm>
        </p:spPr>
      </p:pic>
    </p:spTree>
    <p:extLst>
      <p:ext uri="{BB962C8B-B14F-4D97-AF65-F5344CB8AC3E}">
        <p14:creationId xmlns:p14="http://schemas.microsoft.com/office/powerpoint/2010/main" val="2754426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3BE5-CC4B-EF5F-6C34-19D9C3124B4D}"/>
              </a:ext>
            </a:extLst>
          </p:cNvPr>
          <p:cNvSpPr>
            <a:spLocks noGrp="1"/>
          </p:cNvSpPr>
          <p:nvPr>
            <p:ph type="title"/>
          </p:nvPr>
        </p:nvSpPr>
        <p:spPr>
          <a:xfrm>
            <a:off x="685800" y="134312"/>
            <a:ext cx="11300790" cy="1151965"/>
          </a:xfrm>
        </p:spPr>
        <p:txBody>
          <a:bodyPr>
            <a:normAutofit/>
          </a:bodyPr>
          <a:lstStyle/>
          <a:p>
            <a:r>
              <a:rPr lang="en-US" cap="none" dirty="0"/>
              <a:t>Analyzing data frame</a:t>
            </a:r>
          </a:p>
        </p:txBody>
      </p:sp>
      <p:pic>
        <p:nvPicPr>
          <p:cNvPr id="5" name="Content Placeholder 4">
            <a:extLst>
              <a:ext uri="{FF2B5EF4-FFF2-40B4-BE49-F238E27FC236}">
                <a16:creationId xmlns:a16="http://schemas.microsoft.com/office/drawing/2014/main" id="{DD0225F8-6A39-70C4-5BB8-6E40845037B9}"/>
              </a:ext>
            </a:extLst>
          </p:cNvPr>
          <p:cNvPicPr>
            <a:picLocks noGrp="1" noChangeAspect="1"/>
          </p:cNvPicPr>
          <p:nvPr>
            <p:ph sz="quarter" idx="13"/>
          </p:nvPr>
        </p:nvPicPr>
        <p:blipFill>
          <a:blip r:embed="rId2"/>
          <a:srcRect/>
          <a:stretch/>
        </p:blipFill>
        <p:spPr>
          <a:xfrm>
            <a:off x="685800" y="1355851"/>
            <a:ext cx="5257799" cy="4019425"/>
          </a:xfrm>
        </p:spPr>
      </p:pic>
      <p:pic>
        <p:nvPicPr>
          <p:cNvPr id="3" name="Content Placeholder 4">
            <a:extLst>
              <a:ext uri="{FF2B5EF4-FFF2-40B4-BE49-F238E27FC236}">
                <a16:creationId xmlns:a16="http://schemas.microsoft.com/office/drawing/2014/main" id="{FE13BCFB-0CE3-E5CC-A570-1D77EE52DC2B}"/>
              </a:ext>
            </a:extLst>
          </p:cNvPr>
          <p:cNvPicPr>
            <a:picLocks noChangeAspect="1"/>
          </p:cNvPicPr>
          <p:nvPr/>
        </p:nvPicPr>
        <p:blipFill>
          <a:blip r:embed="rId3"/>
          <a:srcRect/>
          <a:stretch/>
        </p:blipFill>
        <p:spPr>
          <a:xfrm>
            <a:off x="6096000" y="1355851"/>
            <a:ext cx="5184913" cy="4019425"/>
          </a:xfrm>
          <a:prstGeom prst="rect">
            <a:avLst/>
          </a:prstGeom>
        </p:spPr>
      </p:pic>
    </p:spTree>
    <p:extLst>
      <p:ext uri="{BB962C8B-B14F-4D97-AF65-F5344CB8AC3E}">
        <p14:creationId xmlns:p14="http://schemas.microsoft.com/office/powerpoint/2010/main" val="938787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3BE5-CC4B-EF5F-6C34-19D9C3124B4D}"/>
              </a:ext>
            </a:extLst>
          </p:cNvPr>
          <p:cNvSpPr>
            <a:spLocks noGrp="1"/>
          </p:cNvSpPr>
          <p:nvPr>
            <p:ph type="title"/>
          </p:nvPr>
        </p:nvSpPr>
        <p:spPr>
          <a:xfrm>
            <a:off x="546654" y="74677"/>
            <a:ext cx="11300790" cy="1151965"/>
          </a:xfrm>
        </p:spPr>
        <p:txBody>
          <a:bodyPr>
            <a:normAutofit fontScale="90000"/>
          </a:bodyPr>
          <a:lstStyle/>
          <a:p>
            <a:r>
              <a:rPr lang="en-US" cap="none" dirty="0"/>
              <a:t>Visualizing TOP-5 Run Getters (ALL formats)</a:t>
            </a:r>
          </a:p>
        </p:txBody>
      </p:sp>
      <p:pic>
        <p:nvPicPr>
          <p:cNvPr id="5" name="Content Placeholder 4">
            <a:extLst>
              <a:ext uri="{FF2B5EF4-FFF2-40B4-BE49-F238E27FC236}">
                <a16:creationId xmlns:a16="http://schemas.microsoft.com/office/drawing/2014/main" id="{DD0225F8-6A39-70C4-5BB8-6E40845037B9}"/>
              </a:ext>
            </a:extLst>
          </p:cNvPr>
          <p:cNvPicPr>
            <a:picLocks noGrp="1" noChangeAspect="1"/>
          </p:cNvPicPr>
          <p:nvPr>
            <p:ph sz="quarter" idx="13"/>
          </p:nvPr>
        </p:nvPicPr>
        <p:blipFill>
          <a:blip r:embed="rId2"/>
          <a:srcRect/>
          <a:stretch/>
        </p:blipFill>
        <p:spPr>
          <a:xfrm>
            <a:off x="685801" y="1123123"/>
            <a:ext cx="9384956" cy="4252154"/>
          </a:xfrm>
        </p:spPr>
      </p:pic>
    </p:spTree>
    <p:extLst>
      <p:ext uri="{BB962C8B-B14F-4D97-AF65-F5344CB8AC3E}">
        <p14:creationId xmlns:p14="http://schemas.microsoft.com/office/powerpoint/2010/main" val="2849460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3BE5-CC4B-EF5F-6C34-19D9C3124B4D}"/>
              </a:ext>
            </a:extLst>
          </p:cNvPr>
          <p:cNvSpPr>
            <a:spLocks noGrp="1"/>
          </p:cNvSpPr>
          <p:nvPr>
            <p:ph type="title"/>
          </p:nvPr>
        </p:nvSpPr>
        <p:spPr>
          <a:xfrm>
            <a:off x="546654" y="74677"/>
            <a:ext cx="11300790" cy="1151965"/>
          </a:xfrm>
        </p:spPr>
        <p:txBody>
          <a:bodyPr>
            <a:normAutofit fontScale="90000"/>
          </a:bodyPr>
          <a:lstStyle/>
          <a:p>
            <a:r>
              <a:rPr lang="en-US" cap="none" dirty="0"/>
              <a:t>Visualizing TOP-5 100’s &amp; 50’s (ALL formats)</a:t>
            </a:r>
          </a:p>
        </p:txBody>
      </p:sp>
      <p:pic>
        <p:nvPicPr>
          <p:cNvPr id="5" name="Content Placeholder 4">
            <a:extLst>
              <a:ext uri="{FF2B5EF4-FFF2-40B4-BE49-F238E27FC236}">
                <a16:creationId xmlns:a16="http://schemas.microsoft.com/office/drawing/2014/main" id="{DD0225F8-6A39-70C4-5BB8-6E40845037B9}"/>
              </a:ext>
            </a:extLst>
          </p:cNvPr>
          <p:cNvPicPr>
            <a:picLocks noGrp="1" noChangeAspect="1"/>
          </p:cNvPicPr>
          <p:nvPr>
            <p:ph sz="quarter" idx="13"/>
          </p:nvPr>
        </p:nvPicPr>
        <p:blipFill>
          <a:blip r:embed="rId2"/>
          <a:srcRect/>
          <a:stretch/>
        </p:blipFill>
        <p:spPr>
          <a:xfrm>
            <a:off x="685801" y="1123123"/>
            <a:ext cx="9384956" cy="4252154"/>
          </a:xfrm>
        </p:spPr>
      </p:pic>
    </p:spTree>
    <p:extLst>
      <p:ext uri="{BB962C8B-B14F-4D97-AF65-F5344CB8AC3E}">
        <p14:creationId xmlns:p14="http://schemas.microsoft.com/office/powerpoint/2010/main" val="3034013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3BE5-CC4B-EF5F-6C34-19D9C3124B4D}"/>
              </a:ext>
            </a:extLst>
          </p:cNvPr>
          <p:cNvSpPr>
            <a:spLocks noGrp="1"/>
          </p:cNvSpPr>
          <p:nvPr>
            <p:ph type="title"/>
          </p:nvPr>
        </p:nvSpPr>
        <p:spPr>
          <a:xfrm>
            <a:off x="546654" y="74677"/>
            <a:ext cx="11300790" cy="1151965"/>
          </a:xfrm>
        </p:spPr>
        <p:txBody>
          <a:bodyPr>
            <a:normAutofit fontScale="90000"/>
          </a:bodyPr>
          <a:lstStyle/>
          <a:p>
            <a:r>
              <a:rPr lang="en-US" cap="none" dirty="0"/>
              <a:t>Visualizing Best Avg Scores ( Format wise)</a:t>
            </a:r>
          </a:p>
        </p:txBody>
      </p:sp>
      <p:pic>
        <p:nvPicPr>
          <p:cNvPr id="5" name="Content Placeholder 4">
            <a:extLst>
              <a:ext uri="{FF2B5EF4-FFF2-40B4-BE49-F238E27FC236}">
                <a16:creationId xmlns:a16="http://schemas.microsoft.com/office/drawing/2014/main" id="{DD0225F8-6A39-70C4-5BB8-6E40845037B9}"/>
              </a:ext>
            </a:extLst>
          </p:cNvPr>
          <p:cNvPicPr>
            <a:picLocks noGrp="1" noChangeAspect="1"/>
          </p:cNvPicPr>
          <p:nvPr>
            <p:ph sz="quarter" idx="13"/>
          </p:nvPr>
        </p:nvPicPr>
        <p:blipFill>
          <a:blip r:embed="rId2"/>
          <a:srcRect/>
          <a:stretch/>
        </p:blipFill>
        <p:spPr>
          <a:xfrm>
            <a:off x="685801" y="1123123"/>
            <a:ext cx="9384956" cy="4252154"/>
          </a:xfrm>
        </p:spPr>
      </p:pic>
    </p:spTree>
    <p:extLst>
      <p:ext uri="{BB962C8B-B14F-4D97-AF65-F5344CB8AC3E}">
        <p14:creationId xmlns:p14="http://schemas.microsoft.com/office/powerpoint/2010/main" val="3127047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3BE5-CC4B-EF5F-6C34-19D9C3124B4D}"/>
              </a:ext>
            </a:extLst>
          </p:cNvPr>
          <p:cNvSpPr>
            <a:spLocks noGrp="1"/>
          </p:cNvSpPr>
          <p:nvPr>
            <p:ph type="title"/>
          </p:nvPr>
        </p:nvSpPr>
        <p:spPr>
          <a:xfrm>
            <a:off x="546654" y="74677"/>
            <a:ext cx="11300790" cy="1151965"/>
          </a:xfrm>
        </p:spPr>
        <p:txBody>
          <a:bodyPr>
            <a:normAutofit fontScale="90000"/>
          </a:bodyPr>
          <a:lstStyle/>
          <a:p>
            <a:r>
              <a:rPr lang="en-US" cap="none" dirty="0"/>
              <a:t>Visualizing Runs vs Innings ( Format wise)</a:t>
            </a:r>
          </a:p>
        </p:txBody>
      </p:sp>
      <p:pic>
        <p:nvPicPr>
          <p:cNvPr id="5" name="Content Placeholder 4">
            <a:extLst>
              <a:ext uri="{FF2B5EF4-FFF2-40B4-BE49-F238E27FC236}">
                <a16:creationId xmlns:a16="http://schemas.microsoft.com/office/drawing/2014/main" id="{DD0225F8-6A39-70C4-5BB8-6E40845037B9}"/>
              </a:ext>
            </a:extLst>
          </p:cNvPr>
          <p:cNvPicPr>
            <a:picLocks noGrp="1" noChangeAspect="1"/>
          </p:cNvPicPr>
          <p:nvPr>
            <p:ph sz="quarter" idx="13"/>
          </p:nvPr>
        </p:nvPicPr>
        <p:blipFill>
          <a:blip r:embed="rId2"/>
          <a:srcRect/>
          <a:stretch/>
        </p:blipFill>
        <p:spPr>
          <a:xfrm>
            <a:off x="685801" y="1226641"/>
            <a:ext cx="9717964" cy="4299515"/>
          </a:xfrm>
        </p:spPr>
      </p:pic>
    </p:spTree>
    <p:extLst>
      <p:ext uri="{BB962C8B-B14F-4D97-AF65-F5344CB8AC3E}">
        <p14:creationId xmlns:p14="http://schemas.microsoft.com/office/powerpoint/2010/main" val="72545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3BE5-CC4B-EF5F-6C34-19D9C3124B4D}"/>
              </a:ext>
            </a:extLst>
          </p:cNvPr>
          <p:cNvSpPr>
            <a:spLocks noGrp="1"/>
          </p:cNvSpPr>
          <p:nvPr>
            <p:ph type="title"/>
          </p:nvPr>
        </p:nvSpPr>
        <p:spPr>
          <a:xfrm>
            <a:off x="205409" y="100365"/>
            <a:ext cx="11986591" cy="1151965"/>
          </a:xfrm>
        </p:spPr>
        <p:txBody>
          <a:bodyPr>
            <a:normAutofit fontScale="90000"/>
          </a:bodyPr>
          <a:lstStyle/>
          <a:p>
            <a:r>
              <a:rPr lang="en-US" cap="none" dirty="0"/>
              <a:t>Plotting Batting Style vs Runs ( Format wise)</a:t>
            </a:r>
          </a:p>
        </p:txBody>
      </p:sp>
      <p:pic>
        <p:nvPicPr>
          <p:cNvPr id="5" name="Content Placeholder 4">
            <a:extLst>
              <a:ext uri="{FF2B5EF4-FFF2-40B4-BE49-F238E27FC236}">
                <a16:creationId xmlns:a16="http://schemas.microsoft.com/office/drawing/2014/main" id="{DD0225F8-6A39-70C4-5BB8-6E40845037B9}"/>
              </a:ext>
            </a:extLst>
          </p:cNvPr>
          <p:cNvPicPr>
            <a:picLocks noGrp="1" noChangeAspect="1"/>
          </p:cNvPicPr>
          <p:nvPr>
            <p:ph sz="quarter" idx="13"/>
          </p:nvPr>
        </p:nvPicPr>
        <p:blipFill>
          <a:blip r:embed="rId2"/>
          <a:srcRect/>
          <a:stretch/>
        </p:blipFill>
        <p:spPr>
          <a:xfrm>
            <a:off x="685801" y="1321904"/>
            <a:ext cx="9717964" cy="4204252"/>
          </a:xfrm>
        </p:spPr>
      </p:pic>
    </p:spTree>
    <p:extLst>
      <p:ext uri="{BB962C8B-B14F-4D97-AF65-F5344CB8AC3E}">
        <p14:creationId xmlns:p14="http://schemas.microsoft.com/office/powerpoint/2010/main" val="927402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3BE5-CC4B-EF5F-6C34-19D9C3124B4D}"/>
              </a:ext>
            </a:extLst>
          </p:cNvPr>
          <p:cNvSpPr>
            <a:spLocks noGrp="1"/>
          </p:cNvSpPr>
          <p:nvPr>
            <p:ph type="title"/>
          </p:nvPr>
        </p:nvSpPr>
        <p:spPr>
          <a:xfrm>
            <a:off x="0" y="0"/>
            <a:ext cx="11986591" cy="1151965"/>
          </a:xfrm>
        </p:spPr>
        <p:txBody>
          <a:bodyPr>
            <a:normAutofit/>
          </a:bodyPr>
          <a:lstStyle/>
          <a:p>
            <a:r>
              <a:rPr lang="en-US" cap="none" dirty="0"/>
              <a:t>     Data Pre-processing</a:t>
            </a:r>
          </a:p>
        </p:txBody>
      </p:sp>
      <p:pic>
        <p:nvPicPr>
          <p:cNvPr id="5" name="Content Placeholder 4">
            <a:extLst>
              <a:ext uri="{FF2B5EF4-FFF2-40B4-BE49-F238E27FC236}">
                <a16:creationId xmlns:a16="http://schemas.microsoft.com/office/drawing/2014/main" id="{DD0225F8-6A39-70C4-5BB8-6E40845037B9}"/>
              </a:ext>
            </a:extLst>
          </p:cNvPr>
          <p:cNvPicPr>
            <a:picLocks noGrp="1" noChangeAspect="1"/>
          </p:cNvPicPr>
          <p:nvPr>
            <p:ph sz="quarter" idx="13"/>
          </p:nvPr>
        </p:nvPicPr>
        <p:blipFill>
          <a:blip r:embed="rId2"/>
          <a:srcRect/>
          <a:stretch/>
        </p:blipFill>
        <p:spPr>
          <a:xfrm>
            <a:off x="685801" y="1321904"/>
            <a:ext cx="9717964" cy="4204252"/>
          </a:xfrm>
        </p:spPr>
      </p:pic>
    </p:spTree>
    <p:extLst>
      <p:ext uri="{BB962C8B-B14F-4D97-AF65-F5344CB8AC3E}">
        <p14:creationId xmlns:p14="http://schemas.microsoft.com/office/powerpoint/2010/main" val="3389434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3BE5-CC4B-EF5F-6C34-19D9C3124B4D}"/>
              </a:ext>
            </a:extLst>
          </p:cNvPr>
          <p:cNvSpPr>
            <a:spLocks noGrp="1"/>
          </p:cNvSpPr>
          <p:nvPr>
            <p:ph type="title"/>
          </p:nvPr>
        </p:nvSpPr>
        <p:spPr>
          <a:xfrm>
            <a:off x="516836" y="0"/>
            <a:ext cx="11469756" cy="1151965"/>
          </a:xfrm>
        </p:spPr>
        <p:txBody>
          <a:bodyPr>
            <a:normAutofit/>
          </a:bodyPr>
          <a:lstStyle/>
          <a:p>
            <a:r>
              <a:rPr lang="en-US" cap="none" dirty="0"/>
              <a:t>Pair Plot – To find relation b/w features</a:t>
            </a:r>
          </a:p>
        </p:txBody>
      </p:sp>
      <p:pic>
        <p:nvPicPr>
          <p:cNvPr id="5" name="Content Placeholder 4">
            <a:extLst>
              <a:ext uri="{FF2B5EF4-FFF2-40B4-BE49-F238E27FC236}">
                <a16:creationId xmlns:a16="http://schemas.microsoft.com/office/drawing/2014/main" id="{DD0225F8-6A39-70C4-5BB8-6E40845037B9}"/>
              </a:ext>
            </a:extLst>
          </p:cNvPr>
          <p:cNvPicPr>
            <a:picLocks noGrp="1" noChangeAspect="1"/>
          </p:cNvPicPr>
          <p:nvPr>
            <p:ph sz="quarter" idx="13"/>
          </p:nvPr>
        </p:nvPicPr>
        <p:blipFill>
          <a:blip r:embed="rId2"/>
          <a:srcRect/>
          <a:stretch/>
        </p:blipFill>
        <p:spPr>
          <a:xfrm>
            <a:off x="775253" y="1151965"/>
            <a:ext cx="9717964" cy="4204252"/>
          </a:xfrm>
        </p:spPr>
      </p:pic>
    </p:spTree>
    <p:extLst>
      <p:ext uri="{BB962C8B-B14F-4D97-AF65-F5344CB8AC3E}">
        <p14:creationId xmlns:p14="http://schemas.microsoft.com/office/powerpoint/2010/main" val="4252272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3BE5-CC4B-EF5F-6C34-19D9C3124B4D}"/>
              </a:ext>
            </a:extLst>
          </p:cNvPr>
          <p:cNvSpPr>
            <a:spLocks noGrp="1"/>
          </p:cNvSpPr>
          <p:nvPr>
            <p:ph type="title"/>
          </p:nvPr>
        </p:nvSpPr>
        <p:spPr>
          <a:xfrm>
            <a:off x="516836" y="0"/>
            <a:ext cx="11469756" cy="1151965"/>
          </a:xfrm>
        </p:spPr>
        <p:txBody>
          <a:bodyPr>
            <a:normAutofit fontScale="90000"/>
          </a:bodyPr>
          <a:lstStyle/>
          <a:p>
            <a:r>
              <a:rPr lang="en-US" cap="none" dirty="0"/>
              <a:t>Heat Map – To find Co-relation b/w features</a:t>
            </a:r>
          </a:p>
        </p:txBody>
      </p:sp>
      <p:pic>
        <p:nvPicPr>
          <p:cNvPr id="1028" name="Picture 4">
            <a:extLst>
              <a:ext uri="{FF2B5EF4-FFF2-40B4-BE49-F238E27FC236}">
                <a16:creationId xmlns:a16="http://schemas.microsoft.com/office/drawing/2014/main" id="{A4CE15A7-0346-AE46-C484-40433F065AC2}"/>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741405" y="1151966"/>
            <a:ext cx="10515600" cy="4223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3162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3BE5-CC4B-EF5F-6C34-19D9C3124B4D}"/>
              </a:ext>
            </a:extLst>
          </p:cNvPr>
          <p:cNvSpPr>
            <a:spLocks noGrp="1"/>
          </p:cNvSpPr>
          <p:nvPr>
            <p:ph type="title"/>
          </p:nvPr>
        </p:nvSpPr>
        <p:spPr>
          <a:xfrm>
            <a:off x="516836" y="0"/>
            <a:ext cx="11469756" cy="1151965"/>
          </a:xfrm>
        </p:spPr>
        <p:txBody>
          <a:bodyPr>
            <a:normAutofit/>
          </a:bodyPr>
          <a:lstStyle/>
          <a:p>
            <a:r>
              <a:rPr lang="en-US" cap="none" dirty="0"/>
              <a:t>Reading Image Data and plotting it</a:t>
            </a:r>
          </a:p>
        </p:txBody>
      </p:sp>
      <p:pic>
        <p:nvPicPr>
          <p:cNvPr id="5" name="Content Placeholder 4">
            <a:extLst>
              <a:ext uri="{FF2B5EF4-FFF2-40B4-BE49-F238E27FC236}">
                <a16:creationId xmlns:a16="http://schemas.microsoft.com/office/drawing/2014/main" id="{6B97CC63-731C-3ACA-91E3-B518E0281F61}"/>
              </a:ext>
            </a:extLst>
          </p:cNvPr>
          <p:cNvPicPr>
            <a:picLocks noGrp="1" noChangeAspect="1"/>
          </p:cNvPicPr>
          <p:nvPr>
            <p:ph sz="quarter" idx="13"/>
          </p:nvPr>
        </p:nvPicPr>
        <p:blipFill>
          <a:blip r:embed="rId2"/>
          <a:stretch>
            <a:fillRect/>
          </a:stretch>
        </p:blipFill>
        <p:spPr>
          <a:xfrm>
            <a:off x="914400" y="1272746"/>
            <a:ext cx="9539416" cy="4102529"/>
          </a:xfrm>
          <a:prstGeom prst="rect">
            <a:avLst/>
          </a:prstGeom>
        </p:spPr>
      </p:pic>
    </p:spTree>
    <p:extLst>
      <p:ext uri="{BB962C8B-B14F-4D97-AF65-F5344CB8AC3E}">
        <p14:creationId xmlns:p14="http://schemas.microsoft.com/office/powerpoint/2010/main" val="3935346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3BE5-CC4B-EF5F-6C34-19D9C3124B4D}"/>
              </a:ext>
            </a:extLst>
          </p:cNvPr>
          <p:cNvSpPr>
            <a:spLocks noGrp="1"/>
          </p:cNvSpPr>
          <p:nvPr>
            <p:ph type="title"/>
          </p:nvPr>
        </p:nvSpPr>
        <p:spPr>
          <a:xfrm>
            <a:off x="516836" y="0"/>
            <a:ext cx="11469756" cy="1151965"/>
          </a:xfrm>
        </p:spPr>
        <p:txBody>
          <a:bodyPr>
            <a:normAutofit/>
          </a:bodyPr>
          <a:lstStyle/>
          <a:p>
            <a:r>
              <a:rPr lang="en-US" cap="none"/>
              <a:t>Slicing Data from array </a:t>
            </a:r>
            <a:endParaRPr lang="en-US" cap="none" dirty="0"/>
          </a:p>
        </p:txBody>
      </p:sp>
      <p:pic>
        <p:nvPicPr>
          <p:cNvPr id="2050" name="Picture 2">
            <a:extLst>
              <a:ext uri="{FF2B5EF4-FFF2-40B4-BE49-F238E27FC236}">
                <a16:creationId xmlns:a16="http://schemas.microsoft.com/office/drawing/2014/main" id="{435C8193-133E-A276-6D92-62AA5DAE899A}"/>
              </a:ext>
            </a:extLst>
          </p:cNvPr>
          <p:cNvPicPr>
            <a:picLocks noGrp="1" noChangeAspect="1" noChangeArrowheads="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8587315" y="1253606"/>
            <a:ext cx="2789769" cy="392953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D82A125-67F2-388F-7EA6-F4C1C49FD430}"/>
              </a:ext>
            </a:extLst>
          </p:cNvPr>
          <p:cNvPicPr>
            <a:picLocks noChangeAspect="1"/>
          </p:cNvPicPr>
          <p:nvPr/>
        </p:nvPicPr>
        <p:blipFill>
          <a:blip r:embed="rId3"/>
          <a:stretch>
            <a:fillRect/>
          </a:stretch>
        </p:blipFill>
        <p:spPr>
          <a:xfrm>
            <a:off x="205408" y="2428934"/>
            <a:ext cx="7772400" cy="1578878"/>
          </a:xfrm>
          <a:prstGeom prst="rect">
            <a:avLst/>
          </a:prstGeom>
        </p:spPr>
      </p:pic>
    </p:spTree>
    <p:extLst>
      <p:ext uri="{BB962C8B-B14F-4D97-AF65-F5344CB8AC3E}">
        <p14:creationId xmlns:p14="http://schemas.microsoft.com/office/powerpoint/2010/main" val="20243689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3BE5-CC4B-EF5F-6C34-19D9C3124B4D}"/>
              </a:ext>
            </a:extLst>
          </p:cNvPr>
          <p:cNvSpPr>
            <a:spLocks noGrp="1"/>
          </p:cNvSpPr>
          <p:nvPr>
            <p:ph type="title"/>
          </p:nvPr>
        </p:nvSpPr>
        <p:spPr>
          <a:xfrm>
            <a:off x="330411" y="174910"/>
            <a:ext cx="11301685" cy="1151965"/>
          </a:xfrm>
        </p:spPr>
        <p:txBody>
          <a:bodyPr>
            <a:normAutofit/>
          </a:bodyPr>
          <a:lstStyle/>
          <a:p>
            <a:r>
              <a:rPr lang="en-US" cap="none" dirty="0"/>
              <a:t>Loading </a:t>
            </a:r>
            <a:r>
              <a:rPr lang="en-US" cap="none" dirty="0" err="1"/>
              <a:t>Unstructred</a:t>
            </a:r>
            <a:r>
              <a:rPr lang="en-US" cap="none" dirty="0"/>
              <a:t> data and cleaning</a:t>
            </a:r>
          </a:p>
        </p:txBody>
      </p:sp>
      <p:pic>
        <p:nvPicPr>
          <p:cNvPr id="6" name="Content Placeholder 5">
            <a:extLst>
              <a:ext uri="{FF2B5EF4-FFF2-40B4-BE49-F238E27FC236}">
                <a16:creationId xmlns:a16="http://schemas.microsoft.com/office/drawing/2014/main" id="{C1B19FA7-DBF2-DB77-6A13-FEB27621D1A9}"/>
              </a:ext>
            </a:extLst>
          </p:cNvPr>
          <p:cNvPicPr>
            <a:picLocks noGrp="1" noChangeAspect="1"/>
          </p:cNvPicPr>
          <p:nvPr>
            <p:ph sz="quarter" idx="13"/>
          </p:nvPr>
        </p:nvPicPr>
        <p:blipFill>
          <a:blip r:embed="rId2"/>
          <a:stretch>
            <a:fillRect/>
          </a:stretch>
        </p:blipFill>
        <p:spPr>
          <a:xfrm>
            <a:off x="1112109" y="1544551"/>
            <a:ext cx="9551772" cy="3768897"/>
          </a:xfrm>
          <a:prstGeom prst="rect">
            <a:avLst/>
          </a:prstGeom>
        </p:spPr>
      </p:pic>
    </p:spTree>
    <p:extLst>
      <p:ext uri="{BB962C8B-B14F-4D97-AF65-F5344CB8AC3E}">
        <p14:creationId xmlns:p14="http://schemas.microsoft.com/office/powerpoint/2010/main" val="1576666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3BE5-CC4B-EF5F-6C34-19D9C3124B4D}"/>
              </a:ext>
            </a:extLst>
          </p:cNvPr>
          <p:cNvSpPr>
            <a:spLocks noGrp="1"/>
          </p:cNvSpPr>
          <p:nvPr>
            <p:ph type="title"/>
          </p:nvPr>
        </p:nvSpPr>
        <p:spPr>
          <a:xfrm>
            <a:off x="330411" y="174910"/>
            <a:ext cx="11301685" cy="1151965"/>
          </a:xfrm>
        </p:spPr>
        <p:txBody>
          <a:bodyPr>
            <a:normAutofit/>
          </a:bodyPr>
          <a:lstStyle/>
          <a:p>
            <a:r>
              <a:rPr lang="en-US" cap="none" dirty="0"/>
              <a:t>   Visualizing Top Ranked Players</a:t>
            </a:r>
          </a:p>
        </p:txBody>
      </p:sp>
      <p:pic>
        <p:nvPicPr>
          <p:cNvPr id="5" name="Content Placeholder 4">
            <a:extLst>
              <a:ext uri="{FF2B5EF4-FFF2-40B4-BE49-F238E27FC236}">
                <a16:creationId xmlns:a16="http://schemas.microsoft.com/office/drawing/2014/main" id="{DD0225F8-6A39-70C4-5BB8-6E40845037B9}"/>
              </a:ext>
            </a:extLst>
          </p:cNvPr>
          <p:cNvPicPr>
            <a:picLocks noGrp="1" noChangeAspect="1"/>
          </p:cNvPicPr>
          <p:nvPr>
            <p:ph sz="quarter" idx="13"/>
          </p:nvPr>
        </p:nvPicPr>
        <p:blipFill>
          <a:blip r:embed="rId2"/>
          <a:srcRect/>
          <a:stretch/>
        </p:blipFill>
        <p:spPr>
          <a:xfrm>
            <a:off x="799967" y="1326875"/>
            <a:ext cx="9717964" cy="4085385"/>
          </a:xfrm>
        </p:spPr>
      </p:pic>
    </p:spTree>
    <p:extLst>
      <p:ext uri="{BB962C8B-B14F-4D97-AF65-F5344CB8AC3E}">
        <p14:creationId xmlns:p14="http://schemas.microsoft.com/office/powerpoint/2010/main" val="42264631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76E8DBD-6DBD-4FCB-8FE8-8F0425C0B67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4" name="Freeform 11">
            <a:extLst>
              <a:ext uri="{FF2B5EF4-FFF2-40B4-BE49-F238E27FC236}">
                <a16:creationId xmlns:a16="http://schemas.microsoft.com/office/drawing/2014/main" id="{70BE0118-665B-49AC-8ED9-B29C009CE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6" name="Freeform 13">
            <a:extLst>
              <a:ext uri="{FF2B5EF4-FFF2-40B4-BE49-F238E27FC236}">
                <a16:creationId xmlns:a16="http://schemas.microsoft.com/office/drawing/2014/main" id="{DB8E4593-3024-4A7B-92FB-8114D72E57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8" name="Freeform 25">
            <a:extLst>
              <a:ext uri="{FF2B5EF4-FFF2-40B4-BE49-F238E27FC236}">
                <a16:creationId xmlns:a16="http://schemas.microsoft.com/office/drawing/2014/main" id="{F72029E6-113E-4A42-8D29-4B796B39B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0" name="Freeform 14">
            <a:extLst>
              <a:ext uri="{FF2B5EF4-FFF2-40B4-BE49-F238E27FC236}">
                <a16:creationId xmlns:a16="http://schemas.microsoft.com/office/drawing/2014/main" id="{FBAE6AE5-2B20-46E6-B338-A385BFF09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2" name="5-Point Star 24">
            <a:extLst>
              <a:ext uri="{FF2B5EF4-FFF2-40B4-BE49-F238E27FC236}">
                <a16:creationId xmlns:a16="http://schemas.microsoft.com/office/drawing/2014/main" id="{4555B12C-E2CF-448D-918F-96D0958DC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pic>
        <p:nvPicPr>
          <p:cNvPr id="24" name="Picture 23">
            <a:extLst>
              <a:ext uri="{FF2B5EF4-FFF2-40B4-BE49-F238E27FC236}">
                <a16:creationId xmlns:a16="http://schemas.microsoft.com/office/drawing/2014/main" id="{47458151-6535-4712-9D31-5BFEBD22056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26" name="Rectangle 25">
            <a:extLst>
              <a:ext uri="{FF2B5EF4-FFF2-40B4-BE49-F238E27FC236}">
                <a16:creationId xmlns:a16="http://schemas.microsoft.com/office/drawing/2014/main" id="{28F956D1-3AF5-47E1-BF12-D331E34AAA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6" y="0"/>
            <a:ext cx="4632997" cy="6858000"/>
          </a:xfrm>
          <a:prstGeom prst="rect">
            <a:avLst/>
          </a:prstGeom>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5">
            <a:extLst>
              <a:ext uri="{FF2B5EF4-FFF2-40B4-BE49-F238E27FC236}">
                <a16:creationId xmlns:a16="http://schemas.microsoft.com/office/drawing/2014/main" id="{4A5A7DD1-718C-42BE-9B90-4D960E22E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6" y="0"/>
            <a:ext cx="4293205" cy="6576643"/>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a:extLst>
              <a:ext uri="{FF2B5EF4-FFF2-40B4-BE49-F238E27FC236}">
                <a16:creationId xmlns:a16="http://schemas.microsoft.com/office/drawing/2014/main" id="{2AF03BE5-CC4B-EF5F-6C34-19D9C3124B4D}"/>
              </a:ext>
            </a:extLst>
          </p:cNvPr>
          <p:cNvSpPr>
            <a:spLocks noGrp="1"/>
          </p:cNvSpPr>
          <p:nvPr>
            <p:ph type="title"/>
          </p:nvPr>
        </p:nvSpPr>
        <p:spPr>
          <a:xfrm>
            <a:off x="446663" y="1304458"/>
            <a:ext cx="3326650" cy="2901781"/>
          </a:xfrm>
        </p:spPr>
        <p:txBody>
          <a:bodyPr vert="horz" lIns="91440" tIns="45720" rIns="91440" bIns="45720" rtlCol="0" anchor="b">
            <a:normAutofit/>
          </a:bodyPr>
          <a:lstStyle/>
          <a:p>
            <a:pPr algn="r"/>
            <a:r>
              <a:rPr lang="en-US" sz="5100"/>
              <a:t>Identifying Top players</a:t>
            </a:r>
          </a:p>
        </p:txBody>
      </p:sp>
      <p:sp>
        <p:nvSpPr>
          <p:cNvPr id="30" name="Rectangle 29">
            <a:extLst>
              <a:ext uri="{FF2B5EF4-FFF2-40B4-BE49-F238E27FC236}">
                <a16:creationId xmlns:a16="http://schemas.microsoft.com/office/drawing/2014/main" id="{9DE02FF1-20BC-4306-B0FB-AE6D71D737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248871" cy="226225"/>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32" name="Rectangle 31">
            <a:extLst>
              <a:ext uri="{FF2B5EF4-FFF2-40B4-BE49-F238E27FC236}">
                <a16:creationId xmlns:a16="http://schemas.microsoft.com/office/drawing/2014/main" id="{89A8C427-1B47-42B2-9206-1F34BE757D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52622"/>
            <a:ext cx="4250216"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34" name="Rectangle 33">
            <a:extLst>
              <a:ext uri="{FF2B5EF4-FFF2-40B4-BE49-F238E27FC236}">
                <a16:creationId xmlns:a16="http://schemas.microsoft.com/office/drawing/2014/main" id="{C9864909-0F48-48BD-B525-B293738D4E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1883" y="450792"/>
            <a:ext cx="6636823" cy="5950008"/>
          </a:xfrm>
          <a:prstGeom prst="rect">
            <a:avLst/>
          </a:prstGeom>
          <a:solidFill>
            <a:schemeClr val="bg1"/>
          </a:solidFill>
          <a:ln w="57150" cmpd="thinThick">
            <a:noFill/>
            <a:miter lim="800000"/>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Text, application&#10;&#10;Description automatically generated">
            <a:extLst>
              <a:ext uri="{FF2B5EF4-FFF2-40B4-BE49-F238E27FC236}">
                <a16:creationId xmlns:a16="http://schemas.microsoft.com/office/drawing/2014/main" id="{0E452DD7-E23F-9EE9-582D-C70EF1FC3E4B}"/>
              </a:ext>
            </a:extLst>
          </p:cNvPr>
          <p:cNvPicPr>
            <a:picLocks noGrp="1" noChangeAspect="1"/>
          </p:cNvPicPr>
          <p:nvPr>
            <p:ph sz="quarter" idx="13"/>
          </p:nvPr>
        </p:nvPicPr>
        <p:blipFill>
          <a:blip r:embed="rId4"/>
          <a:stretch>
            <a:fillRect/>
          </a:stretch>
        </p:blipFill>
        <p:spPr>
          <a:xfrm>
            <a:off x="5321367" y="1272558"/>
            <a:ext cx="6174771" cy="4306901"/>
          </a:xfrm>
          <a:prstGeom prst="rect">
            <a:avLst/>
          </a:prstGeom>
        </p:spPr>
      </p:pic>
    </p:spTree>
    <p:extLst>
      <p:ext uri="{BB962C8B-B14F-4D97-AF65-F5344CB8AC3E}">
        <p14:creationId xmlns:p14="http://schemas.microsoft.com/office/powerpoint/2010/main" val="20877688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03BE5-CC4B-EF5F-6C34-19D9C3124B4D}"/>
              </a:ext>
            </a:extLst>
          </p:cNvPr>
          <p:cNvSpPr>
            <a:spLocks noGrp="1"/>
          </p:cNvSpPr>
          <p:nvPr>
            <p:ph type="title"/>
          </p:nvPr>
        </p:nvSpPr>
        <p:spPr>
          <a:xfrm>
            <a:off x="330411" y="174910"/>
            <a:ext cx="11301685" cy="1151965"/>
          </a:xfrm>
        </p:spPr>
        <p:txBody>
          <a:bodyPr>
            <a:normAutofit/>
          </a:bodyPr>
          <a:lstStyle/>
          <a:p>
            <a:r>
              <a:rPr lang="en-US" cap="none" dirty="0"/>
              <a:t>   Visualizing Top Players</a:t>
            </a:r>
          </a:p>
        </p:txBody>
      </p:sp>
      <p:pic>
        <p:nvPicPr>
          <p:cNvPr id="5" name="Content Placeholder 4">
            <a:extLst>
              <a:ext uri="{FF2B5EF4-FFF2-40B4-BE49-F238E27FC236}">
                <a16:creationId xmlns:a16="http://schemas.microsoft.com/office/drawing/2014/main" id="{DD0225F8-6A39-70C4-5BB8-6E40845037B9}"/>
              </a:ext>
            </a:extLst>
          </p:cNvPr>
          <p:cNvPicPr>
            <a:picLocks noGrp="1" noChangeAspect="1"/>
          </p:cNvPicPr>
          <p:nvPr>
            <p:ph sz="quarter" idx="13"/>
          </p:nvPr>
        </p:nvPicPr>
        <p:blipFill>
          <a:blip r:embed="rId2"/>
          <a:srcRect/>
          <a:stretch/>
        </p:blipFill>
        <p:spPr>
          <a:xfrm>
            <a:off x="799967" y="1326875"/>
            <a:ext cx="9717964" cy="4085385"/>
          </a:xfrm>
        </p:spPr>
      </p:pic>
    </p:spTree>
    <p:extLst>
      <p:ext uri="{BB962C8B-B14F-4D97-AF65-F5344CB8AC3E}">
        <p14:creationId xmlns:p14="http://schemas.microsoft.com/office/powerpoint/2010/main" val="4029224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70F82-9620-9FD2-BF93-5BDE3654BB0D}"/>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76CE1A22-DC45-7A93-A997-A284EC351E77}"/>
              </a:ext>
            </a:extLst>
          </p:cNvPr>
          <p:cNvSpPr>
            <a:spLocks noGrp="1"/>
          </p:cNvSpPr>
          <p:nvPr>
            <p:ph sz="quarter" idx="13"/>
          </p:nvPr>
        </p:nvSpPr>
        <p:spPr/>
        <p:txBody>
          <a:bodyPr>
            <a:normAutofit fontScale="55000" lnSpcReduction="20000"/>
          </a:bodyPr>
          <a:lstStyle/>
          <a:p>
            <a:pPr algn="l"/>
            <a:r>
              <a:rPr lang="en-US" b="1" i="1" dirty="0">
                <a:solidFill>
                  <a:srgbClr val="000000"/>
                </a:solidFill>
                <a:effectLst/>
                <a:latin typeface="Helvetica Neue" panose="02000503000000020004" pitchFamily="2" charset="0"/>
              </a:rPr>
              <a:t>From the above analysis we have successfully identified the top 5 performing cricketers based on a range of performance metrics, including batting average, strike rate, total runs scored, boundaries, innings played and years active. The final ranking was based on a weighted combination of batting, which were determined through exploratory data analysis.</a:t>
            </a:r>
          </a:p>
          <a:p>
            <a:pPr algn="l"/>
            <a:r>
              <a:rPr lang="en-US" b="1" i="1" dirty="0">
                <a:solidFill>
                  <a:srgbClr val="000000"/>
                </a:solidFill>
                <a:effectLst/>
                <a:latin typeface="Helvetica Neue" panose="02000503000000020004" pitchFamily="2" charset="0"/>
              </a:rPr>
              <a:t>The top 5 cricketers identified through the analysis were V Kohli, LRPL Taylor, JE Root, RG Sharma, and DA Warner, who demonstrated consistent and exceptional performance in batting. These cricketers have the potential to serve as strong brand ambassadors for the company's products and can significantly enhance their brand image.</a:t>
            </a:r>
          </a:p>
          <a:p>
            <a:pPr algn="l"/>
            <a:r>
              <a:rPr lang="en-US" b="1" i="0" dirty="0">
                <a:solidFill>
                  <a:srgbClr val="000000"/>
                </a:solidFill>
                <a:effectLst/>
                <a:latin typeface="Helvetica Neue" panose="02000503000000020004" pitchFamily="2" charset="0"/>
              </a:rPr>
              <a:t>The limitations of the analysis included the availability and completeness of the data, as well as the potential for bias in the selection of performance metrics and the weighting scheme used. However, the analysis approach employed was robust and rigorous, taking into account a range of factors to arrive at the final ranking.</a:t>
            </a:r>
          </a:p>
          <a:p>
            <a:pPr algn="l"/>
            <a:r>
              <a:rPr lang="en-US" b="1" i="0" dirty="0">
                <a:solidFill>
                  <a:srgbClr val="000000"/>
                </a:solidFill>
                <a:effectLst/>
                <a:latin typeface="Helvetica Neue" panose="02000503000000020004" pitchFamily="2" charset="0"/>
              </a:rPr>
              <a:t>Overall, this analysis provides valuable insights and recommendations for the company to make informed decisions about its marketing strategy and product endorsement deals. The report serves as a valuable tool for future reference and can be used to inform future analyses or updates to the ranking criteria.</a:t>
            </a:r>
          </a:p>
          <a:p>
            <a:endParaRPr lang="en-US" dirty="0"/>
          </a:p>
        </p:txBody>
      </p:sp>
    </p:spTree>
    <p:extLst>
      <p:ext uri="{BB962C8B-B14F-4D97-AF65-F5344CB8AC3E}">
        <p14:creationId xmlns:p14="http://schemas.microsoft.com/office/powerpoint/2010/main" val="43562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52C80-03A2-B0D8-BB17-A84A103EA02D}"/>
              </a:ext>
            </a:extLst>
          </p:cNvPr>
          <p:cNvSpPr>
            <a:spLocks noGrp="1"/>
          </p:cNvSpPr>
          <p:nvPr>
            <p:ph type="ctrTitle"/>
          </p:nvPr>
        </p:nvSpPr>
        <p:spPr>
          <a:xfrm rot="21420000">
            <a:off x="-788512" y="409095"/>
            <a:ext cx="9755187" cy="2766528"/>
          </a:xfrm>
        </p:spPr>
        <p:txBody>
          <a:bodyPr>
            <a:normAutofit/>
          </a:bodyPr>
          <a:lstStyle/>
          <a:p>
            <a:r>
              <a:rPr lang="en-US" dirty="0"/>
              <a:t>Thank You…!!!</a:t>
            </a:r>
          </a:p>
        </p:txBody>
      </p:sp>
      <p:sp>
        <p:nvSpPr>
          <p:cNvPr id="3" name="Subtitle 2">
            <a:extLst>
              <a:ext uri="{FF2B5EF4-FFF2-40B4-BE49-F238E27FC236}">
                <a16:creationId xmlns:a16="http://schemas.microsoft.com/office/drawing/2014/main" id="{807509CE-1ED3-07EC-47FA-DD92F16A44C8}"/>
              </a:ext>
            </a:extLst>
          </p:cNvPr>
          <p:cNvSpPr>
            <a:spLocks noGrp="1"/>
          </p:cNvSpPr>
          <p:nvPr>
            <p:ph type="subTitle" idx="1"/>
          </p:nvPr>
        </p:nvSpPr>
        <p:spPr>
          <a:xfrm rot="21420000">
            <a:off x="949194" y="3594662"/>
            <a:ext cx="9755187" cy="550333"/>
          </a:xfrm>
        </p:spPr>
        <p:txBody>
          <a:bodyPr/>
          <a:lstStyle/>
          <a:p>
            <a:r>
              <a:rPr lang="en-US" dirty="0"/>
              <a:t>BY : Yogesh,  </a:t>
            </a:r>
            <a:r>
              <a:rPr lang="en-US" dirty="0" err="1"/>
              <a:t>pranay,NagulMeera</a:t>
            </a:r>
            <a:endParaRPr lang="en-US" dirty="0"/>
          </a:p>
        </p:txBody>
      </p:sp>
    </p:spTree>
    <p:extLst>
      <p:ext uri="{BB962C8B-B14F-4D97-AF65-F5344CB8AC3E}">
        <p14:creationId xmlns:p14="http://schemas.microsoft.com/office/powerpoint/2010/main" val="247540535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docProps/app.xml><?xml version="1.0" encoding="utf-8"?>
<Properties xmlns="http://schemas.openxmlformats.org/officeDocument/2006/extended-properties" xmlns:vt="http://schemas.openxmlformats.org/officeDocument/2006/docPropsVTypes">
  <Template>Main Event</Template>
  <TotalTime>1624</TotalTime>
  <Words>1054</Words>
  <Application>Microsoft Macintosh PowerPoint</Application>
  <PresentationFormat>Widescreen</PresentationFormat>
  <Paragraphs>52</Paragraphs>
  <Slides>26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Calibri Light</vt:lpstr>
      <vt:lpstr>Helvetica Neue</vt:lpstr>
      <vt:lpstr>Impact</vt:lpstr>
      <vt:lpstr>Söhne</vt:lpstr>
      <vt:lpstr>Times New Roman</vt:lpstr>
      <vt:lpstr>Main Event</vt:lpstr>
      <vt:lpstr>International Cricket Player Performance Analysis </vt:lpstr>
      <vt:lpstr>Introduction</vt:lpstr>
      <vt:lpstr>Problem definition</vt:lpstr>
      <vt:lpstr>Data set</vt:lpstr>
      <vt:lpstr>Sample data ( Country &amp; Players ) - Structured</vt:lpstr>
      <vt:lpstr>Sample data ( Player’s batting stats )- Structured</vt:lpstr>
      <vt:lpstr>Sample data Text file &amp; Image</vt:lpstr>
      <vt:lpstr>Retrieving data from data base</vt:lpstr>
      <vt:lpstr>Merging all the data frames</vt:lpstr>
      <vt:lpstr>Analyzing data frame</vt:lpstr>
      <vt:lpstr>Visualizing TOP-5 Run Getters (ALL formats)</vt:lpstr>
      <vt:lpstr>Visualizing TOP-5 100’s &amp; 50’s (ALL formats)</vt:lpstr>
      <vt:lpstr>Visualizing Best Avg Scores ( Format wise)</vt:lpstr>
      <vt:lpstr>Visualizing Runs vs Innings ( Format wise)</vt:lpstr>
      <vt:lpstr>Plotting Batting Style vs Runs ( Format wise)</vt:lpstr>
      <vt:lpstr>     Data Pre-processing</vt:lpstr>
      <vt:lpstr>Pair Plot – To find relation b/w features</vt:lpstr>
      <vt:lpstr>Heat Map – To find Co-relation b/w features</vt:lpstr>
      <vt:lpstr>Reading Image Data and plotting it</vt:lpstr>
      <vt:lpstr>Slicing Data from array </vt:lpstr>
      <vt:lpstr>Loading Unstructred data and cleaning</vt:lpstr>
      <vt:lpstr>   Visualizing Top Ranked Players</vt:lpstr>
      <vt:lpstr>Identifying Top players</vt:lpstr>
      <vt:lpstr>   Visualizing Top Players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Cricket Player Performance Analysis </dc:title>
  <dc:creator>Poka, Mr. Venkata Anil Kumar</dc:creator>
  <cp:lastModifiedBy>Poka, Mr. Venkata Anil Kumar</cp:lastModifiedBy>
  <cp:revision>11</cp:revision>
  <dcterms:created xsi:type="dcterms:W3CDTF">2023-03-18T21:34:04Z</dcterms:created>
  <dcterms:modified xsi:type="dcterms:W3CDTF">2023-03-29T20:18:56Z</dcterms:modified>
</cp:coreProperties>
</file>